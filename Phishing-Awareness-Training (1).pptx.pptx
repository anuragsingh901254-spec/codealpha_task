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Arimo" charset="1" panose="020B06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29" Target="notesSlides/notesSlide10.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media/image12.svg" Type="http://schemas.openxmlformats.org/officeDocument/2006/relationships/image"/><Relationship Id="rId13" Target="../media/image13.pn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png" Type="http://schemas.openxmlformats.org/officeDocument/2006/relationships/image"/><Relationship Id="rId18" Target="../media/image18.sv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4.png" Type="http://schemas.openxmlformats.org/officeDocument/2006/relationships/image"/><Relationship Id="rId5" Target="../media/image25.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png" Type="http://schemas.openxmlformats.org/officeDocument/2006/relationships/image"/><Relationship Id="rId11" Target="../media/image37.sv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svg" Type="http://schemas.openxmlformats.org/officeDocument/2006/relationships/image"/><Relationship Id="rId11" Target="../media/image44.png" Type="http://schemas.openxmlformats.org/officeDocument/2006/relationships/image"/><Relationship Id="rId12" Target="../media/image45.pn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25.jpe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grpSp>
        <p:nvGrpSpPr>
          <p:cNvPr name="Group 6" id="6"/>
          <p:cNvGrpSpPr/>
          <p:nvPr/>
        </p:nvGrpSpPr>
        <p:grpSpPr>
          <a:xfrm rot="0">
            <a:off x="0" y="0"/>
            <a:ext cx="7200900" cy="10287000"/>
            <a:chOff x="0" y="0"/>
            <a:chExt cx="9601200" cy="13716000"/>
          </a:xfrm>
        </p:grpSpPr>
        <p:sp>
          <p:nvSpPr>
            <p:cNvPr name="Freeform 7" id="7" descr="preencoded.png"/>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3347590"/>
            <a:ext cx="9445523" cy="1928517"/>
          </a:xfrm>
          <a:prstGeom prst="rect">
            <a:avLst/>
          </a:prstGeom>
        </p:spPr>
        <p:txBody>
          <a:bodyPr anchor="t" rtlCol="false" tIns="0" lIns="0" bIns="0" rIns="0">
            <a:spAutoFit/>
          </a:bodyPr>
          <a:lstStyle/>
          <a:p>
            <a:pPr algn="l">
              <a:lnSpc>
                <a:spcPts val="7128"/>
              </a:lnSpc>
            </a:pPr>
            <a:r>
              <a:rPr lang="en-US" sz="5500" b="true">
                <a:solidFill>
                  <a:srgbClr val="F2F5FA"/>
                </a:solidFill>
                <a:latin typeface="Arimo Bold"/>
                <a:ea typeface="Arimo Bold"/>
                <a:cs typeface="Arimo Bold"/>
                <a:sym typeface="Arimo Bold"/>
              </a:rPr>
              <a:t>Phishing Awareness Training</a:t>
            </a:r>
          </a:p>
        </p:txBody>
      </p:sp>
      <p:sp>
        <p:nvSpPr>
          <p:cNvPr name="TextBox 9" id="9"/>
          <p:cNvSpPr txBox="true"/>
          <p:nvPr/>
        </p:nvSpPr>
        <p:spPr>
          <a:xfrm rot="0">
            <a:off x="7850238" y="5663213"/>
            <a:ext cx="10359923" cy="406594"/>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Understanding and Preventing Phishing Attacks</a:t>
            </a:r>
          </a:p>
        </p:txBody>
      </p:sp>
      <p:grpSp>
        <p:nvGrpSpPr>
          <p:cNvPr name="Group 10" id="10"/>
          <p:cNvGrpSpPr/>
          <p:nvPr/>
        </p:nvGrpSpPr>
        <p:grpSpPr>
          <a:xfrm rot="0">
            <a:off x="7850238" y="6388741"/>
            <a:ext cx="3192656" cy="464791"/>
            <a:chOff x="0" y="0"/>
            <a:chExt cx="4256875" cy="619722"/>
          </a:xfrm>
        </p:grpSpPr>
        <p:sp>
          <p:nvSpPr>
            <p:cNvPr name="Freeform 11" id="11"/>
            <p:cNvSpPr/>
            <p:nvPr/>
          </p:nvSpPr>
          <p:spPr>
            <a:xfrm flipH="false" flipV="false" rot="0">
              <a:off x="0" y="0"/>
              <a:ext cx="4256913" cy="619633"/>
            </a:xfrm>
            <a:custGeom>
              <a:avLst/>
              <a:gdLst/>
              <a:ahLst/>
              <a:cxnLst/>
              <a:rect r="r" b="b" t="t" l="l"/>
              <a:pathLst>
                <a:path h="619633" w="4256913">
                  <a:moveTo>
                    <a:pt x="0" y="127000"/>
                  </a:moveTo>
                  <a:cubicBezTo>
                    <a:pt x="0" y="56896"/>
                    <a:pt x="56896" y="0"/>
                    <a:pt x="127000" y="0"/>
                  </a:cubicBezTo>
                  <a:lnTo>
                    <a:pt x="4129913" y="0"/>
                  </a:lnTo>
                  <a:cubicBezTo>
                    <a:pt x="4200017" y="0"/>
                    <a:pt x="4256913" y="56896"/>
                    <a:pt x="4256913" y="127000"/>
                  </a:cubicBezTo>
                  <a:lnTo>
                    <a:pt x="4256913" y="492633"/>
                  </a:lnTo>
                  <a:cubicBezTo>
                    <a:pt x="4256913" y="562737"/>
                    <a:pt x="4200017" y="619633"/>
                    <a:pt x="4129913" y="619633"/>
                  </a:cubicBezTo>
                  <a:lnTo>
                    <a:pt x="127000" y="619633"/>
                  </a:lnTo>
                  <a:cubicBezTo>
                    <a:pt x="56896" y="619633"/>
                    <a:pt x="0" y="562737"/>
                    <a:pt x="0" y="492633"/>
                  </a:cubicBezTo>
                  <a:close/>
                </a:path>
              </a:pathLst>
            </a:custGeom>
            <a:solidFill>
              <a:srgbClr val="00194D"/>
            </a:solidFill>
          </p:spPr>
        </p:sp>
      </p:grpSp>
      <p:sp>
        <p:nvSpPr>
          <p:cNvPr name="TextBox 12" id="12"/>
          <p:cNvSpPr txBox="true"/>
          <p:nvPr/>
        </p:nvSpPr>
        <p:spPr>
          <a:xfrm rot="0">
            <a:off x="8020345" y="6435623"/>
            <a:ext cx="3766842" cy="332927"/>
          </a:xfrm>
          <a:prstGeom prst="rect">
            <a:avLst/>
          </a:prstGeom>
        </p:spPr>
        <p:txBody>
          <a:bodyPr anchor="t" rtlCol="false" tIns="0" lIns="0" bIns="0" rIns="0">
            <a:spAutoFit/>
          </a:bodyPr>
          <a:lstStyle/>
          <a:p>
            <a:pPr algn="l">
              <a:lnSpc>
                <a:spcPts val="2203"/>
              </a:lnSpc>
            </a:pPr>
            <a:r>
              <a:rPr lang="en-US" sz="1700">
                <a:solidFill>
                  <a:srgbClr val="EBEDF0"/>
                </a:solidFill>
                <a:latin typeface="Arimo"/>
                <a:ea typeface="Arimo"/>
                <a:cs typeface="Arimo"/>
                <a:sym typeface="Arimo"/>
              </a:rPr>
              <a:t>CYBERSECURITY TRAINING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992238" y="1439913"/>
            <a:ext cx="9242669" cy="1007116"/>
          </a:xfrm>
          <a:prstGeom prst="rect">
            <a:avLst/>
          </a:prstGeom>
        </p:spPr>
        <p:txBody>
          <a:bodyPr anchor="t" rtlCol="false" tIns="0" lIns="0" bIns="0" rIns="0">
            <a:spAutoFit/>
          </a:bodyPr>
          <a:lstStyle/>
          <a:p>
            <a:pPr algn="l">
              <a:lnSpc>
                <a:spcPts val="7128"/>
              </a:lnSpc>
            </a:pPr>
            <a:r>
              <a:rPr lang="en-US" sz="5500" b="true">
                <a:solidFill>
                  <a:srgbClr val="F2F5FA"/>
                </a:solidFill>
                <a:latin typeface="Arimo Bold"/>
                <a:ea typeface="Arimo Bold"/>
                <a:cs typeface="Arimo Bold"/>
                <a:sym typeface="Arimo Bold"/>
              </a:rPr>
              <a:t>Introduction to Phishing</a:t>
            </a:r>
          </a:p>
        </p:txBody>
      </p:sp>
      <p:sp>
        <p:nvSpPr>
          <p:cNvPr name="TextBox 7" id="7"/>
          <p:cNvSpPr txBox="true"/>
          <p:nvPr/>
        </p:nvSpPr>
        <p:spPr>
          <a:xfrm rot="0">
            <a:off x="992238" y="3117656"/>
            <a:ext cx="4458443" cy="498719"/>
          </a:xfrm>
          <a:prstGeom prst="rect">
            <a:avLst/>
          </a:prstGeom>
        </p:spPr>
        <p:txBody>
          <a:bodyPr anchor="t" rtlCol="false" tIns="0" lIns="0" bIns="0" rIns="0">
            <a:spAutoFit/>
          </a:bodyPr>
          <a:lstStyle/>
          <a:p>
            <a:pPr algn="l">
              <a:lnSpc>
                <a:spcPts val="3499"/>
              </a:lnSpc>
            </a:pPr>
            <a:r>
              <a:rPr lang="en-US" sz="2700" b="true">
                <a:solidFill>
                  <a:srgbClr val="F2F5FA"/>
                </a:solidFill>
                <a:latin typeface="Arimo Bold"/>
                <a:ea typeface="Arimo Bold"/>
                <a:cs typeface="Arimo Bold"/>
                <a:sym typeface="Arimo Bold"/>
              </a:rPr>
              <a:t>What is Phishing?</a:t>
            </a:r>
          </a:p>
        </p:txBody>
      </p:sp>
      <p:sp>
        <p:nvSpPr>
          <p:cNvPr name="TextBox 8" id="8"/>
          <p:cNvSpPr txBox="true"/>
          <p:nvPr/>
        </p:nvSpPr>
        <p:spPr>
          <a:xfrm rot="0">
            <a:off x="992238" y="3861787"/>
            <a:ext cx="7805890" cy="2249091"/>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Phishing is a type of cyberattack where malicious actors disguise themselves as trustworthy entities to trick individuals into revealing sensitive information such as passwords, credit card numbers, or personal data. These attacks are typically carried out through deceptive emails, messages, or websites.</a:t>
            </a:r>
          </a:p>
        </p:txBody>
      </p:sp>
      <p:sp>
        <p:nvSpPr>
          <p:cNvPr name="TextBox 9" id="9"/>
          <p:cNvSpPr txBox="true"/>
          <p:nvPr/>
        </p:nvSpPr>
        <p:spPr>
          <a:xfrm rot="0">
            <a:off x="9499406" y="3117656"/>
            <a:ext cx="4862808" cy="498719"/>
          </a:xfrm>
          <a:prstGeom prst="rect">
            <a:avLst/>
          </a:prstGeom>
        </p:spPr>
        <p:txBody>
          <a:bodyPr anchor="t" rtlCol="false" tIns="0" lIns="0" bIns="0" rIns="0">
            <a:spAutoFit/>
          </a:bodyPr>
          <a:lstStyle/>
          <a:p>
            <a:pPr algn="l">
              <a:lnSpc>
                <a:spcPts val="3499"/>
              </a:lnSpc>
            </a:pPr>
            <a:r>
              <a:rPr lang="en-US" sz="2700" b="true">
                <a:solidFill>
                  <a:srgbClr val="F2F5FA"/>
                </a:solidFill>
                <a:latin typeface="Arimo Bold"/>
                <a:ea typeface="Arimo Bold"/>
                <a:cs typeface="Arimo Bold"/>
                <a:sym typeface="Arimo Bold"/>
              </a:rPr>
              <a:t>Why It's a Major Threat</a:t>
            </a:r>
          </a:p>
        </p:txBody>
      </p:sp>
      <p:sp>
        <p:nvSpPr>
          <p:cNvPr name="TextBox 10" id="10"/>
          <p:cNvSpPr txBox="true"/>
          <p:nvPr/>
        </p:nvSpPr>
        <p:spPr>
          <a:xfrm rot="0">
            <a:off x="9499406" y="3861787"/>
            <a:ext cx="7805890" cy="2617594"/>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Phishing remains one of the most prevalent and dangerous cybersecurity threats facing individuals and organizations today. It exploits human psychology rather than technical vulnerabilities, making it difficult to defend against with technology alone. Billions of phishing emails are sent every day, and a single successful attack can lead to devastating data breaches, financial loss, and reputational damage.</a:t>
            </a:r>
          </a:p>
        </p:txBody>
      </p:sp>
      <p:grpSp>
        <p:nvGrpSpPr>
          <p:cNvPr name="Group 11" id="11"/>
          <p:cNvGrpSpPr/>
          <p:nvPr/>
        </p:nvGrpSpPr>
        <p:grpSpPr>
          <a:xfrm rot="0">
            <a:off x="992238" y="7053415"/>
            <a:ext cx="16303523" cy="1388859"/>
            <a:chOff x="0" y="0"/>
            <a:chExt cx="21738031" cy="1851812"/>
          </a:xfrm>
        </p:grpSpPr>
        <p:sp>
          <p:nvSpPr>
            <p:cNvPr name="Freeform 12" id="12"/>
            <p:cNvSpPr/>
            <p:nvPr/>
          </p:nvSpPr>
          <p:spPr>
            <a:xfrm flipH="false" flipV="false" rot="0">
              <a:off x="0" y="0"/>
              <a:ext cx="21737955" cy="1851787"/>
            </a:xfrm>
            <a:custGeom>
              <a:avLst/>
              <a:gdLst/>
              <a:ahLst/>
              <a:cxnLst/>
              <a:rect r="r" b="b" t="t" l="l"/>
              <a:pathLst>
                <a:path h="1851787" w="21737955">
                  <a:moveTo>
                    <a:pt x="0" y="158750"/>
                  </a:moveTo>
                  <a:cubicBezTo>
                    <a:pt x="0" y="71120"/>
                    <a:pt x="71120" y="0"/>
                    <a:pt x="158750" y="0"/>
                  </a:cubicBezTo>
                  <a:lnTo>
                    <a:pt x="21579205" y="0"/>
                  </a:lnTo>
                  <a:cubicBezTo>
                    <a:pt x="21666836" y="0"/>
                    <a:pt x="21737955" y="71120"/>
                    <a:pt x="21737955" y="158750"/>
                  </a:cubicBezTo>
                  <a:lnTo>
                    <a:pt x="21737955" y="1693037"/>
                  </a:lnTo>
                  <a:cubicBezTo>
                    <a:pt x="21737955" y="1780667"/>
                    <a:pt x="21666836" y="1851787"/>
                    <a:pt x="21579205" y="1851787"/>
                  </a:cubicBezTo>
                  <a:lnTo>
                    <a:pt x="158750" y="1851787"/>
                  </a:lnTo>
                  <a:cubicBezTo>
                    <a:pt x="71120" y="1851787"/>
                    <a:pt x="0" y="1780667"/>
                    <a:pt x="0" y="1693037"/>
                  </a:cubicBezTo>
                  <a:close/>
                </a:path>
              </a:pathLst>
            </a:custGeom>
            <a:solidFill>
              <a:srgbClr val="4B3F02"/>
            </a:solidFill>
          </p:spPr>
        </p:sp>
      </p:grpSp>
      <p:grpSp>
        <p:nvGrpSpPr>
          <p:cNvPr name="Group 13" id="13"/>
          <p:cNvGrpSpPr/>
          <p:nvPr/>
        </p:nvGrpSpPr>
        <p:grpSpPr>
          <a:xfrm rot="0">
            <a:off x="1275750" y="7416851"/>
            <a:ext cx="354359" cy="283521"/>
            <a:chOff x="0" y="0"/>
            <a:chExt cx="472478" cy="378028"/>
          </a:xfrm>
        </p:grpSpPr>
        <p:sp>
          <p:nvSpPr>
            <p:cNvPr name="Freeform 14" id="14"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4"/>
              <a:stretch>
                <a:fillRect l="0" t="-671" r="-8" b="-655"/>
              </a:stretch>
            </a:blipFill>
          </p:spPr>
        </p:sp>
      </p:grpSp>
      <p:sp>
        <p:nvSpPr>
          <p:cNvPr name="TextBox 15" id="15"/>
          <p:cNvSpPr txBox="true"/>
          <p:nvPr/>
        </p:nvSpPr>
        <p:spPr>
          <a:xfrm rot="0">
            <a:off x="1913630" y="7341241"/>
            <a:ext cx="15098611" cy="775097"/>
          </a:xfrm>
          <a:prstGeom prst="rect">
            <a:avLst/>
          </a:prstGeom>
        </p:spPr>
        <p:txBody>
          <a:bodyPr anchor="t" rtlCol="false" tIns="0" lIns="0" bIns="0" rIns="0">
            <a:spAutoFit/>
          </a:bodyPr>
          <a:lstStyle/>
          <a:p>
            <a:pPr algn="l">
              <a:lnSpc>
                <a:spcPts val="2851"/>
              </a:lnSpc>
            </a:pPr>
            <a:r>
              <a:rPr lang="en-US" sz="2200">
                <a:solidFill>
                  <a:srgbClr val="FFFFFF"/>
                </a:solidFill>
                <a:latin typeface="Arimo"/>
                <a:ea typeface="Arimo"/>
                <a:cs typeface="Arimo"/>
                <a:sym typeface="Arimo"/>
              </a:rPr>
              <a:t>Phishing attacks account for over 80% of reported security incidents globally. Human awareness is the first and most critical line of defense.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883739" y="716756"/>
            <a:ext cx="8919124" cy="887311"/>
          </a:xfrm>
          <a:prstGeom prst="rect">
            <a:avLst/>
          </a:prstGeom>
        </p:spPr>
        <p:txBody>
          <a:bodyPr anchor="t" rtlCol="false" tIns="0" lIns="0" bIns="0" rIns="0">
            <a:spAutoFit/>
          </a:bodyPr>
          <a:lstStyle/>
          <a:p>
            <a:pPr algn="l">
              <a:lnSpc>
                <a:spcPts val="6350"/>
              </a:lnSpc>
            </a:pPr>
            <a:r>
              <a:rPr lang="en-US" sz="4900" b="true">
                <a:solidFill>
                  <a:srgbClr val="F2F5FA"/>
                </a:solidFill>
                <a:latin typeface="Arimo Bold"/>
                <a:ea typeface="Arimo Bold"/>
                <a:cs typeface="Arimo Bold"/>
                <a:sym typeface="Arimo Bold"/>
              </a:rPr>
              <a:t>Types of Phishing Attacks</a:t>
            </a:r>
          </a:p>
        </p:txBody>
      </p:sp>
      <p:sp>
        <p:nvSpPr>
          <p:cNvPr name="TextBox 7" id="7"/>
          <p:cNvSpPr txBox="true"/>
          <p:nvPr/>
        </p:nvSpPr>
        <p:spPr>
          <a:xfrm rot="0">
            <a:off x="883739" y="2034778"/>
            <a:ext cx="16520522" cy="639661"/>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Phishing comes in many forms, each targeting victims through different channels and with varying levels of sophistication. Understanding the different types is the first step to recognizing them.</a:t>
            </a:r>
          </a:p>
        </p:txBody>
      </p:sp>
      <p:grpSp>
        <p:nvGrpSpPr>
          <p:cNvPr name="Group 8" id="8"/>
          <p:cNvGrpSpPr/>
          <p:nvPr/>
        </p:nvGrpSpPr>
        <p:grpSpPr>
          <a:xfrm rot="0">
            <a:off x="869452" y="2913164"/>
            <a:ext cx="5385492" cy="3359353"/>
            <a:chOff x="0" y="0"/>
            <a:chExt cx="7180656" cy="4479138"/>
          </a:xfrm>
        </p:grpSpPr>
        <p:sp>
          <p:nvSpPr>
            <p:cNvPr name="Freeform 9" id="9"/>
            <p:cNvSpPr/>
            <p:nvPr/>
          </p:nvSpPr>
          <p:spPr>
            <a:xfrm flipH="false" flipV="false" rot="0">
              <a:off x="0" y="0"/>
              <a:ext cx="7180707" cy="4479163"/>
            </a:xfrm>
            <a:custGeom>
              <a:avLst/>
              <a:gdLst/>
              <a:ahLst/>
              <a:cxnLst/>
              <a:rect r="r" b="b" t="t" l="l"/>
              <a:pathLst>
                <a:path h="4479163" w="7180707">
                  <a:moveTo>
                    <a:pt x="0" y="142621"/>
                  </a:moveTo>
                  <a:cubicBezTo>
                    <a:pt x="0" y="63881"/>
                    <a:pt x="63881" y="0"/>
                    <a:pt x="142621" y="0"/>
                  </a:cubicBezTo>
                  <a:lnTo>
                    <a:pt x="7038086" y="0"/>
                  </a:lnTo>
                  <a:cubicBezTo>
                    <a:pt x="7116826" y="0"/>
                    <a:pt x="7180707" y="63881"/>
                    <a:pt x="7180707" y="142621"/>
                  </a:cubicBezTo>
                  <a:lnTo>
                    <a:pt x="7180707" y="4336542"/>
                  </a:lnTo>
                  <a:cubicBezTo>
                    <a:pt x="7180707" y="4415282"/>
                    <a:pt x="7116826" y="4479163"/>
                    <a:pt x="7038086" y="4479163"/>
                  </a:cubicBezTo>
                  <a:lnTo>
                    <a:pt x="142621" y="4479163"/>
                  </a:lnTo>
                  <a:cubicBezTo>
                    <a:pt x="63881" y="4479163"/>
                    <a:pt x="0" y="4415282"/>
                    <a:pt x="0" y="4336542"/>
                  </a:cubicBezTo>
                  <a:close/>
                </a:path>
              </a:pathLst>
            </a:custGeom>
            <a:solidFill>
              <a:srgbClr val="101620"/>
            </a:solidFill>
            <a:ln w="28576" cap="sq">
              <a:solidFill>
                <a:srgbClr val="002A80"/>
              </a:solidFill>
              <a:prstDash val="solid"/>
              <a:miter/>
            </a:ln>
          </p:spPr>
        </p:sp>
      </p:grpSp>
      <p:grpSp>
        <p:nvGrpSpPr>
          <p:cNvPr name="Group 10" id="10"/>
          <p:cNvGrpSpPr/>
          <p:nvPr/>
        </p:nvGrpSpPr>
        <p:grpSpPr>
          <a:xfrm rot="0">
            <a:off x="1164727" y="3208439"/>
            <a:ext cx="757533" cy="757533"/>
            <a:chOff x="0" y="0"/>
            <a:chExt cx="1010044" cy="1010044"/>
          </a:xfrm>
        </p:grpSpPr>
        <p:sp>
          <p:nvSpPr>
            <p:cNvPr name="Freeform 11" id="11" descr="preencoded.png"/>
            <p:cNvSpPr/>
            <p:nvPr/>
          </p:nvSpPr>
          <p:spPr>
            <a:xfrm flipH="false" flipV="false" rot="0">
              <a:off x="0" y="0"/>
              <a:ext cx="1010031" cy="1010031"/>
            </a:xfrm>
            <a:custGeom>
              <a:avLst/>
              <a:gdLst/>
              <a:ahLst/>
              <a:cxnLst/>
              <a:rect r="r" b="b" t="t" l="l"/>
              <a:pathLst>
                <a:path h="1010031" w="1010031">
                  <a:moveTo>
                    <a:pt x="0" y="0"/>
                  </a:moveTo>
                  <a:lnTo>
                    <a:pt x="1010031" y="0"/>
                  </a:lnTo>
                  <a:lnTo>
                    <a:pt x="1010031" y="1010031"/>
                  </a:lnTo>
                  <a:lnTo>
                    <a:pt x="0" y="1010031"/>
                  </a:lnTo>
                  <a:lnTo>
                    <a:pt x="0" y="0"/>
                  </a:lnTo>
                  <a:close/>
                </a:path>
              </a:pathLst>
            </a:custGeom>
            <a:blipFill>
              <a:blip r:embed="rId4"/>
              <a:stretch>
                <a:fillRect l="0" t="0" r="-1" b="-1"/>
              </a:stretch>
            </a:blipFill>
          </p:spPr>
        </p:sp>
      </p:grpSp>
      <p:sp>
        <p:nvSpPr>
          <p:cNvPr name="Freeform 12" id="12" descr="preencoded.png"/>
          <p:cNvSpPr/>
          <p:nvPr/>
        </p:nvSpPr>
        <p:spPr>
          <a:xfrm flipH="false" flipV="false" rot="0">
            <a:off x="1373086" y="3416646"/>
            <a:ext cx="340814" cy="340814"/>
          </a:xfrm>
          <a:custGeom>
            <a:avLst/>
            <a:gdLst/>
            <a:ahLst/>
            <a:cxnLst/>
            <a:rect r="r" b="b" t="t" l="l"/>
            <a:pathLst>
              <a:path h="340814" w="340814">
                <a:moveTo>
                  <a:pt x="0" y="0"/>
                </a:moveTo>
                <a:lnTo>
                  <a:pt x="340814" y="0"/>
                </a:lnTo>
                <a:lnTo>
                  <a:pt x="340814" y="340814"/>
                </a:lnTo>
                <a:lnTo>
                  <a:pt x="0" y="340814"/>
                </a:lnTo>
                <a:lnTo>
                  <a:pt x="0" y="0"/>
                </a:lnTo>
                <a:close/>
              </a:path>
            </a:pathLst>
          </a:custGeom>
          <a:blipFill>
            <a:blip r:embed="rId5">
              <a:extLst>
                <a:ext uri="{96DAC541-7B7A-43D3-8B79-37D633B846F1}">
                  <asvg:svgBlip xmlns:asvg="http://schemas.microsoft.com/office/drawing/2016/SVG/main" r:embed="rId6"/>
                </a:ext>
              </a:extLst>
            </a:blip>
            <a:stretch>
              <a:fillRect l="-19443" t="0" r="-19446" b="0"/>
            </a:stretch>
          </a:blipFill>
        </p:spPr>
      </p:sp>
      <p:sp>
        <p:nvSpPr>
          <p:cNvPr name="TextBox 13" id="13"/>
          <p:cNvSpPr txBox="true"/>
          <p:nvPr/>
        </p:nvSpPr>
        <p:spPr>
          <a:xfrm rot="0">
            <a:off x="1164727" y="4152748"/>
            <a:ext cx="3156499" cy="448418"/>
          </a:xfrm>
          <a:prstGeom prst="rect">
            <a:avLst/>
          </a:prstGeom>
        </p:spPr>
        <p:txBody>
          <a:bodyPr anchor="t" rtlCol="false" tIns="0" lIns="0" bIns="0" rIns="0">
            <a:spAutoFit/>
          </a:bodyPr>
          <a:lstStyle/>
          <a:p>
            <a:pPr algn="l">
              <a:lnSpc>
                <a:spcPts val="3110"/>
              </a:lnSpc>
            </a:pPr>
            <a:r>
              <a:rPr lang="en-US" sz="2400" b="true">
                <a:solidFill>
                  <a:srgbClr val="EBEDF0"/>
                </a:solidFill>
                <a:latin typeface="Arimo Bold"/>
                <a:ea typeface="Arimo Bold"/>
                <a:cs typeface="Arimo Bold"/>
                <a:sym typeface="Arimo Bold"/>
              </a:rPr>
              <a:t>Email Phishing</a:t>
            </a:r>
          </a:p>
        </p:txBody>
      </p:sp>
      <p:sp>
        <p:nvSpPr>
          <p:cNvPr name="TextBox 14" id="14"/>
          <p:cNvSpPr txBox="true"/>
          <p:nvPr/>
        </p:nvSpPr>
        <p:spPr>
          <a:xfrm rot="0">
            <a:off x="1164727" y="4716961"/>
            <a:ext cx="4794942" cy="1260272"/>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Mass emails sent to thousands of recipients impersonating legitimate organizations like banks, tech companies, or government agencies.</a:t>
            </a:r>
          </a:p>
        </p:txBody>
      </p:sp>
      <p:grpSp>
        <p:nvGrpSpPr>
          <p:cNvPr name="Group 15" id="15"/>
          <p:cNvGrpSpPr/>
          <p:nvPr/>
        </p:nvGrpSpPr>
        <p:grpSpPr>
          <a:xfrm rot="0">
            <a:off x="6451254" y="2913164"/>
            <a:ext cx="5385492" cy="3359353"/>
            <a:chOff x="0" y="0"/>
            <a:chExt cx="7180656" cy="4479138"/>
          </a:xfrm>
        </p:grpSpPr>
        <p:sp>
          <p:nvSpPr>
            <p:cNvPr name="Freeform 16" id="16"/>
            <p:cNvSpPr/>
            <p:nvPr/>
          </p:nvSpPr>
          <p:spPr>
            <a:xfrm flipH="false" flipV="false" rot="0">
              <a:off x="0" y="0"/>
              <a:ext cx="7180707" cy="4479163"/>
            </a:xfrm>
            <a:custGeom>
              <a:avLst/>
              <a:gdLst/>
              <a:ahLst/>
              <a:cxnLst/>
              <a:rect r="r" b="b" t="t" l="l"/>
              <a:pathLst>
                <a:path h="4479163" w="7180707">
                  <a:moveTo>
                    <a:pt x="0" y="142621"/>
                  </a:moveTo>
                  <a:cubicBezTo>
                    <a:pt x="0" y="63881"/>
                    <a:pt x="63881" y="0"/>
                    <a:pt x="142621" y="0"/>
                  </a:cubicBezTo>
                  <a:lnTo>
                    <a:pt x="7038086" y="0"/>
                  </a:lnTo>
                  <a:cubicBezTo>
                    <a:pt x="7116826" y="0"/>
                    <a:pt x="7180707" y="63881"/>
                    <a:pt x="7180707" y="142621"/>
                  </a:cubicBezTo>
                  <a:lnTo>
                    <a:pt x="7180707" y="4336542"/>
                  </a:lnTo>
                  <a:cubicBezTo>
                    <a:pt x="7180707" y="4415282"/>
                    <a:pt x="7116826" y="4479163"/>
                    <a:pt x="7038086" y="4479163"/>
                  </a:cubicBezTo>
                  <a:lnTo>
                    <a:pt x="142621" y="4479163"/>
                  </a:lnTo>
                  <a:cubicBezTo>
                    <a:pt x="63881" y="4479163"/>
                    <a:pt x="0" y="4415282"/>
                    <a:pt x="0" y="4336542"/>
                  </a:cubicBezTo>
                  <a:close/>
                </a:path>
              </a:pathLst>
            </a:custGeom>
            <a:solidFill>
              <a:srgbClr val="101620"/>
            </a:solidFill>
            <a:ln w="28576" cap="sq">
              <a:solidFill>
                <a:srgbClr val="002A80"/>
              </a:solidFill>
              <a:prstDash val="solid"/>
              <a:miter/>
            </a:ln>
          </p:spPr>
        </p:sp>
      </p:grpSp>
      <p:grpSp>
        <p:nvGrpSpPr>
          <p:cNvPr name="Group 17" id="17"/>
          <p:cNvGrpSpPr/>
          <p:nvPr/>
        </p:nvGrpSpPr>
        <p:grpSpPr>
          <a:xfrm rot="0">
            <a:off x="6746529" y="3208439"/>
            <a:ext cx="757533" cy="757533"/>
            <a:chOff x="0" y="0"/>
            <a:chExt cx="1010044" cy="1010044"/>
          </a:xfrm>
        </p:grpSpPr>
        <p:sp>
          <p:nvSpPr>
            <p:cNvPr name="Freeform 18" id="18" descr="preencoded.png"/>
            <p:cNvSpPr/>
            <p:nvPr/>
          </p:nvSpPr>
          <p:spPr>
            <a:xfrm flipH="false" flipV="false" rot="0">
              <a:off x="0" y="0"/>
              <a:ext cx="1010031" cy="1010031"/>
            </a:xfrm>
            <a:custGeom>
              <a:avLst/>
              <a:gdLst/>
              <a:ahLst/>
              <a:cxnLst/>
              <a:rect r="r" b="b" t="t" l="l"/>
              <a:pathLst>
                <a:path h="1010031" w="1010031">
                  <a:moveTo>
                    <a:pt x="0" y="0"/>
                  </a:moveTo>
                  <a:lnTo>
                    <a:pt x="1010031" y="0"/>
                  </a:lnTo>
                  <a:lnTo>
                    <a:pt x="1010031" y="1010031"/>
                  </a:lnTo>
                  <a:lnTo>
                    <a:pt x="0" y="1010031"/>
                  </a:lnTo>
                  <a:lnTo>
                    <a:pt x="0" y="0"/>
                  </a:lnTo>
                  <a:close/>
                </a:path>
              </a:pathLst>
            </a:custGeom>
            <a:blipFill>
              <a:blip r:embed="rId7"/>
              <a:stretch>
                <a:fillRect l="0" t="0" r="-1" b="-1"/>
              </a:stretch>
            </a:blipFill>
          </p:spPr>
        </p:sp>
      </p:grpSp>
      <p:sp>
        <p:nvSpPr>
          <p:cNvPr name="Freeform 19" id="19" descr="preencoded.png"/>
          <p:cNvSpPr/>
          <p:nvPr/>
        </p:nvSpPr>
        <p:spPr>
          <a:xfrm flipH="false" flipV="false" rot="0">
            <a:off x="6954888" y="3416646"/>
            <a:ext cx="340814" cy="340814"/>
          </a:xfrm>
          <a:custGeom>
            <a:avLst/>
            <a:gdLst/>
            <a:ahLst/>
            <a:cxnLst/>
            <a:rect r="r" b="b" t="t" l="l"/>
            <a:pathLst>
              <a:path h="340814" w="340814">
                <a:moveTo>
                  <a:pt x="0" y="0"/>
                </a:moveTo>
                <a:lnTo>
                  <a:pt x="340814" y="0"/>
                </a:lnTo>
                <a:lnTo>
                  <a:pt x="340814" y="340814"/>
                </a:lnTo>
                <a:lnTo>
                  <a:pt x="0" y="340814"/>
                </a:lnTo>
                <a:lnTo>
                  <a:pt x="0" y="0"/>
                </a:lnTo>
                <a:close/>
              </a:path>
            </a:pathLst>
          </a:custGeom>
          <a:blipFill>
            <a:blip r:embed="rId8">
              <a:extLst>
                <a:ext uri="{96DAC541-7B7A-43D3-8B79-37D633B846F1}">
                  <asvg:svgBlip xmlns:asvg="http://schemas.microsoft.com/office/drawing/2016/SVG/main" r:embed="rId9"/>
                </a:ext>
              </a:extLst>
            </a:blip>
            <a:stretch>
              <a:fillRect l="0" t="-1389" r="0" b="-1389"/>
            </a:stretch>
          </a:blipFill>
        </p:spPr>
      </p:sp>
      <p:sp>
        <p:nvSpPr>
          <p:cNvPr name="TextBox 20" id="20"/>
          <p:cNvSpPr txBox="true"/>
          <p:nvPr/>
        </p:nvSpPr>
        <p:spPr>
          <a:xfrm rot="0">
            <a:off x="6746529" y="4152748"/>
            <a:ext cx="3156499" cy="448418"/>
          </a:xfrm>
          <a:prstGeom prst="rect">
            <a:avLst/>
          </a:prstGeom>
        </p:spPr>
        <p:txBody>
          <a:bodyPr anchor="t" rtlCol="false" tIns="0" lIns="0" bIns="0" rIns="0">
            <a:spAutoFit/>
          </a:bodyPr>
          <a:lstStyle/>
          <a:p>
            <a:pPr algn="l">
              <a:lnSpc>
                <a:spcPts val="3110"/>
              </a:lnSpc>
            </a:pPr>
            <a:r>
              <a:rPr lang="en-US" sz="2400" b="true">
                <a:solidFill>
                  <a:srgbClr val="EBEDF0"/>
                </a:solidFill>
                <a:latin typeface="Arimo Bold"/>
                <a:ea typeface="Arimo Bold"/>
                <a:cs typeface="Arimo Bold"/>
                <a:sym typeface="Arimo Bold"/>
              </a:rPr>
              <a:t>Spear Phishing</a:t>
            </a:r>
          </a:p>
        </p:txBody>
      </p:sp>
      <p:sp>
        <p:nvSpPr>
          <p:cNvPr name="TextBox 21" id="21"/>
          <p:cNvSpPr txBox="true"/>
          <p:nvPr/>
        </p:nvSpPr>
        <p:spPr>
          <a:xfrm rot="0">
            <a:off x="6746529" y="4716961"/>
            <a:ext cx="4794942" cy="1260272"/>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Highly targeted attacks directed at specific individuals or organizations, using personalized information to appear more convincing.</a:t>
            </a:r>
          </a:p>
        </p:txBody>
      </p:sp>
      <p:grpSp>
        <p:nvGrpSpPr>
          <p:cNvPr name="Group 22" id="22"/>
          <p:cNvGrpSpPr/>
          <p:nvPr/>
        </p:nvGrpSpPr>
        <p:grpSpPr>
          <a:xfrm rot="0">
            <a:off x="12033056" y="2913164"/>
            <a:ext cx="5385492" cy="3359353"/>
            <a:chOff x="0" y="0"/>
            <a:chExt cx="7180656" cy="4479138"/>
          </a:xfrm>
        </p:grpSpPr>
        <p:sp>
          <p:nvSpPr>
            <p:cNvPr name="Freeform 23" id="23"/>
            <p:cNvSpPr/>
            <p:nvPr/>
          </p:nvSpPr>
          <p:spPr>
            <a:xfrm flipH="false" flipV="false" rot="0">
              <a:off x="0" y="0"/>
              <a:ext cx="7180707" cy="4479163"/>
            </a:xfrm>
            <a:custGeom>
              <a:avLst/>
              <a:gdLst/>
              <a:ahLst/>
              <a:cxnLst/>
              <a:rect r="r" b="b" t="t" l="l"/>
              <a:pathLst>
                <a:path h="4479163" w="7180707">
                  <a:moveTo>
                    <a:pt x="0" y="142621"/>
                  </a:moveTo>
                  <a:cubicBezTo>
                    <a:pt x="0" y="63881"/>
                    <a:pt x="63881" y="0"/>
                    <a:pt x="142621" y="0"/>
                  </a:cubicBezTo>
                  <a:lnTo>
                    <a:pt x="7038086" y="0"/>
                  </a:lnTo>
                  <a:cubicBezTo>
                    <a:pt x="7116826" y="0"/>
                    <a:pt x="7180707" y="63881"/>
                    <a:pt x="7180707" y="142621"/>
                  </a:cubicBezTo>
                  <a:lnTo>
                    <a:pt x="7180707" y="4336542"/>
                  </a:lnTo>
                  <a:cubicBezTo>
                    <a:pt x="7180707" y="4415282"/>
                    <a:pt x="7116826" y="4479163"/>
                    <a:pt x="7038086" y="4479163"/>
                  </a:cubicBezTo>
                  <a:lnTo>
                    <a:pt x="142621" y="4479163"/>
                  </a:lnTo>
                  <a:cubicBezTo>
                    <a:pt x="63881" y="4479163"/>
                    <a:pt x="0" y="4415282"/>
                    <a:pt x="0" y="4336542"/>
                  </a:cubicBezTo>
                  <a:close/>
                </a:path>
              </a:pathLst>
            </a:custGeom>
            <a:solidFill>
              <a:srgbClr val="101620"/>
            </a:solidFill>
            <a:ln w="28576" cap="sq">
              <a:solidFill>
                <a:srgbClr val="002A80"/>
              </a:solidFill>
              <a:prstDash val="solid"/>
              <a:miter/>
            </a:ln>
          </p:spPr>
        </p:sp>
      </p:grpSp>
      <p:grpSp>
        <p:nvGrpSpPr>
          <p:cNvPr name="Group 24" id="24"/>
          <p:cNvGrpSpPr/>
          <p:nvPr/>
        </p:nvGrpSpPr>
        <p:grpSpPr>
          <a:xfrm rot="0">
            <a:off x="12328322" y="3208439"/>
            <a:ext cx="757533" cy="757533"/>
            <a:chOff x="0" y="0"/>
            <a:chExt cx="1010044" cy="1010044"/>
          </a:xfrm>
        </p:grpSpPr>
        <p:sp>
          <p:nvSpPr>
            <p:cNvPr name="Freeform 25" id="25" descr="preencoded.png"/>
            <p:cNvSpPr/>
            <p:nvPr/>
          </p:nvSpPr>
          <p:spPr>
            <a:xfrm flipH="false" flipV="false" rot="0">
              <a:off x="0" y="0"/>
              <a:ext cx="1010031" cy="1010031"/>
            </a:xfrm>
            <a:custGeom>
              <a:avLst/>
              <a:gdLst/>
              <a:ahLst/>
              <a:cxnLst/>
              <a:rect r="r" b="b" t="t" l="l"/>
              <a:pathLst>
                <a:path h="1010031" w="1010031">
                  <a:moveTo>
                    <a:pt x="0" y="0"/>
                  </a:moveTo>
                  <a:lnTo>
                    <a:pt x="1010031" y="0"/>
                  </a:lnTo>
                  <a:lnTo>
                    <a:pt x="1010031" y="1010031"/>
                  </a:lnTo>
                  <a:lnTo>
                    <a:pt x="0" y="1010031"/>
                  </a:lnTo>
                  <a:lnTo>
                    <a:pt x="0" y="0"/>
                  </a:lnTo>
                  <a:close/>
                </a:path>
              </a:pathLst>
            </a:custGeom>
            <a:blipFill>
              <a:blip r:embed="rId10"/>
              <a:stretch>
                <a:fillRect l="0" t="0" r="-1" b="-1"/>
              </a:stretch>
            </a:blipFill>
          </p:spPr>
        </p:sp>
      </p:grpSp>
      <p:sp>
        <p:nvSpPr>
          <p:cNvPr name="Freeform 26" id="26" descr="preencoded.png"/>
          <p:cNvSpPr/>
          <p:nvPr/>
        </p:nvSpPr>
        <p:spPr>
          <a:xfrm flipH="false" flipV="false" rot="0">
            <a:off x="12536691" y="3416646"/>
            <a:ext cx="340814" cy="340814"/>
          </a:xfrm>
          <a:custGeom>
            <a:avLst/>
            <a:gdLst/>
            <a:ahLst/>
            <a:cxnLst/>
            <a:rect r="r" b="b" t="t" l="l"/>
            <a:pathLst>
              <a:path h="340814" w="340814">
                <a:moveTo>
                  <a:pt x="0" y="0"/>
                </a:moveTo>
                <a:lnTo>
                  <a:pt x="340814" y="0"/>
                </a:lnTo>
                <a:lnTo>
                  <a:pt x="340814" y="340814"/>
                </a:lnTo>
                <a:lnTo>
                  <a:pt x="0" y="340814"/>
                </a:lnTo>
                <a:lnTo>
                  <a:pt x="0" y="0"/>
                </a:lnTo>
                <a:close/>
              </a:path>
            </a:pathLst>
          </a:custGeom>
          <a:blipFill>
            <a:blip r:embed="rId11">
              <a:extLst>
                <a:ext uri="{96DAC541-7B7A-43D3-8B79-37D633B846F1}">
                  <asvg:svgBlip xmlns:asvg="http://schemas.microsoft.com/office/drawing/2016/SVG/main" r:embed="rId12"/>
                </a:ext>
              </a:extLst>
            </a:blip>
            <a:stretch>
              <a:fillRect l="-5556" t="0" r="-5556" b="0"/>
            </a:stretch>
          </a:blipFill>
        </p:spPr>
      </p:sp>
      <p:sp>
        <p:nvSpPr>
          <p:cNvPr name="TextBox 27" id="27"/>
          <p:cNvSpPr txBox="true"/>
          <p:nvPr/>
        </p:nvSpPr>
        <p:spPr>
          <a:xfrm rot="0">
            <a:off x="12328322" y="4152748"/>
            <a:ext cx="3156499" cy="448418"/>
          </a:xfrm>
          <a:prstGeom prst="rect">
            <a:avLst/>
          </a:prstGeom>
        </p:spPr>
        <p:txBody>
          <a:bodyPr anchor="t" rtlCol="false" tIns="0" lIns="0" bIns="0" rIns="0">
            <a:spAutoFit/>
          </a:bodyPr>
          <a:lstStyle/>
          <a:p>
            <a:pPr algn="l">
              <a:lnSpc>
                <a:spcPts val="3110"/>
              </a:lnSpc>
            </a:pPr>
            <a:r>
              <a:rPr lang="en-US" sz="2400" b="true">
                <a:solidFill>
                  <a:srgbClr val="EBEDF0"/>
                </a:solidFill>
                <a:latin typeface="Arimo Bold"/>
                <a:ea typeface="Arimo Bold"/>
                <a:cs typeface="Arimo Bold"/>
                <a:sym typeface="Arimo Bold"/>
              </a:rPr>
              <a:t>Whaling</a:t>
            </a:r>
          </a:p>
        </p:txBody>
      </p:sp>
      <p:sp>
        <p:nvSpPr>
          <p:cNvPr name="TextBox 28" id="28"/>
          <p:cNvSpPr txBox="true"/>
          <p:nvPr/>
        </p:nvSpPr>
        <p:spPr>
          <a:xfrm rot="0">
            <a:off x="12328322" y="4716961"/>
            <a:ext cx="4794942" cy="1260272"/>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A form of spear phishing that specifically targets high-profile executives, CEOs, or other senior leaders within an organization.</a:t>
            </a:r>
          </a:p>
        </p:txBody>
      </p:sp>
      <p:grpSp>
        <p:nvGrpSpPr>
          <p:cNvPr name="Group 29" id="29"/>
          <p:cNvGrpSpPr/>
          <p:nvPr/>
        </p:nvGrpSpPr>
        <p:grpSpPr>
          <a:xfrm rot="0">
            <a:off x="869452" y="6468818"/>
            <a:ext cx="8176317" cy="3049038"/>
            <a:chOff x="0" y="0"/>
            <a:chExt cx="10901756" cy="4065384"/>
          </a:xfrm>
        </p:grpSpPr>
        <p:sp>
          <p:nvSpPr>
            <p:cNvPr name="Freeform 30" id="30"/>
            <p:cNvSpPr/>
            <p:nvPr/>
          </p:nvSpPr>
          <p:spPr>
            <a:xfrm flipH="false" flipV="false" rot="0">
              <a:off x="0" y="0"/>
              <a:ext cx="10901807" cy="4065397"/>
            </a:xfrm>
            <a:custGeom>
              <a:avLst/>
              <a:gdLst/>
              <a:ahLst/>
              <a:cxnLst/>
              <a:rect r="r" b="b" t="t" l="l"/>
              <a:pathLst>
                <a:path h="4065397" w="10901807">
                  <a:moveTo>
                    <a:pt x="0" y="142748"/>
                  </a:moveTo>
                  <a:cubicBezTo>
                    <a:pt x="0" y="63881"/>
                    <a:pt x="63881" y="0"/>
                    <a:pt x="142748" y="0"/>
                  </a:cubicBezTo>
                  <a:lnTo>
                    <a:pt x="10759059" y="0"/>
                  </a:lnTo>
                  <a:cubicBezTo>
                    <a:pt x="10837926" y="0"/>
                    <a:pt x="10901807" y="63881"/>
                    <a:pt x="10901807" y="142748"/>
                  </a:cubicBezTo>
                  <a:lnTo>
                    <a:pt x="10901807" y="3922649"/>
                  </a:lnTo>
                  <a:cubicBezTo>
                    <a:pt x="10901807" y="4001516"/>
                    <a:pt x="10837926" y="4065397"/>
                    <a:pt x="10759059" y="4065397"/>
                  </a:cubicBezTo>
                  <a:lnTo>
                    <a:pt x="142748" y="4065397"/>
                  </a:lnTo>
                  <a:cubicBezTo>
                    <a:pt x="63881" y="4065397"/>
                    <a:pt x="0" y="4001516"/>
                    <a:pt x="0" y="3922649"/>
                  </a:cubicBezTo>
                  <a:close/>
                </a:path>
              </a:pathLst>
            </a:custGeom>
            <a:solidFill>
              <a:srgbClr val="101620"/>
            </a:solidFill>
            <a:ln w="28576" cap="sq">
              <a:solidFill>
                <a:srgbClr val="002A80"/>
              </a:solidFill>
              <a:prstDash val="solid"/>
              <a:miter/>
            </a:ln>
          </p:spPr>
        </p:sp>
      </p:grpSp>
      <p:grpSp>
        <p:nvGrpSpPr>
          <p:cNvPr name="Group 31" id="31"/>
          <p:cNvGrpSpPr/>
          <p:nvPr/>
        </p:nvGrpSpPr>
        <p:grpSpPr>
          <a:xfrm rot="0">
            <a:off x="1164727" y="6764093"/>
            <a:ext cx="757533" cy="757533"/>
            <a:chOff x="0" y="0"/>
            <a:chExt cx="1010044" cy="1010044"/>
          </a:xfrm>
        </p:grpSpPr>
        <p:sp>
          <p:nvSpPr>
            <p:cNvPr name="Freeform 32" id="32" descr="preencoded.png"/>
            <p:cNvSpPr/>
            <p:nvPr/>
          </p:nvSpPr>
          <p:spPr>
            <a:xfrm flipH="false" flipV="false" rot="0">
              <a:off x="0" y="0"/>
              <a:ext cx="1010031" cy="1010031"/>
            </a:xfrm>
            <a:custGeom>
              <a:avLst/>
              <a:gdLst/>
              <a:ahLst/>
              <a:cxnLst/>
              <a:rect r="r" b="b" t="t" l="l"/>
              <a:pathLst>
                <a:path h="1010031" w="1010031">
                  <a:moveTo>
                    <a:pt x="0" y="0"/>
                  </a:moveTo>
                  <a:lnTo>
                    <a:pt x="1010031" y="0"/>
                  </a:lnTo>
                  <a:lnTo>
                    <a:pt x="1010031" y="1010031"/>
                  </a:lnTo>
                  <a:lnTo>
                    <a:pt x="0" y="1010031"/>
                  </a:lnTo>
                  <a:lnTo>
                    <a:pt x="0" y="0"/>
                  </a:lnTo>
                  <a:close/>
                </a:path>
              </a:pathLst>
            </a:custGeom>
            <a:blipFill>
              <a:blip r:embed="rId13"/>
              <a:stretch>
                <a:fillRect l="0" t="0" r="-1" b="-1"/>
              </a:stretch>
            </a:blipFill>
          </p:spPr>
        </p:sp>
      </p:grpSp>
      <p:sp>
        <p:nvSpPr>
          <p:cNvPr name="Freeform 33" id="33" descr="preencoded.png"/>
          <p:cNvSpPr/>
          <p:nvPr/>
        </p:nvSpPr>
        <p:spPr>
          <a:xfrm flipH="false" flipV="false" rot="0">
            <a:off x="1373086" y="6972300"/>
            <a:ext cx="340814" cy="340814"/>
          </a:xfrm>
          <a:custGeom>
            <a:avLst/>
            <a:gdLst/>
            <a:ahLst/>
            <a:cxnLst/>
            <a:rect r="r" b="b" t="t" l="l"/>
            <a:pathLst>
              <a:path h="340814" w="340814">
                <a:moveTo>
                  <a:pt x="0" y="0"/>
                </a:moveTo>
                <a:lnTo>
                  <a:pt x="340814" y="0"/>
                </a:lnTo>
                <a:lnTo>
                  <a:pt x="340814" y="340814"/>
                </a:lnTo>
                <a:lnTo>
                  <a:pt x="0" y="340814"/>
                </a:lnTo>
                <a:lnTo>
                  <a:pt x="0" y="0"/>
                </a:lnTo>
                <a:close/>
              </a:path>
            </a:pathLst>
          </a:custGeom>
          <a:blipFill>
            <a:blip r:embed="rId14">
              <a:extLst>
                <a:ext uri="{96DAC541-7B7A-43D3-8B79-37D633B846F1}">
                  <asvg:svgBlip xmlns:asvg="http://schemas.microsoft.com/office/drawing/2016/SVG/main" r:embed="rId15"/>
                </a:ext>
              </a:extLst>
            </a:blip>
            <a:stretch>
              <a:fillRect l="0" t="-27777" r="0" b="-27780"/>
            </a:stretch>
          </a:blipFill>
        </p:spPr>
      </p:sp>
      <p:sp>
        <p:nvSpPr>
          <p:cNvPr name="TextBox 34" id="34"/>
          <p:cNvSpPr txBox="true"/>
          <p:nvPr/>
        </p:nvSpPr>
        <p:spPr>
          <a:xfrm rot="0">
            <a:off x="1164727" y="7708402"/>
            <a:ext cx="3156499" cy="448418"/>
          </a:xfrm>
          <a:prstGeom prst="rect">
            <a:avLst/>
          </a:prstGeom>
        </p:spPr>
        <p:txBody>
          <a:bodyPr anchor="t" rtlCol="false" tIns="0" lIns="0" bIns="0" rIns="0">
            <a:spAutoFit/>
          </a:bodyPr>
          <a:lstStyle/>
          <a:p>
            <a:pPr algn="l">
              <a:lnSpc>
                <a:spcPts val="3110"/>
              </a:lnSpc>
            </a:pPr>
            <a:r>
              <a:rPr lang="en-US" sz="2400" b="true">
                <a:solidFill>
                  <a:srgbClr val="EBEDF0"/>
                </a:solidFill>
                <a:latin typeface="Arimo Bold"/>
                <a:ea typeface="Arimo Bold"/>
                <a:cs typeface="Arimo Bold"/>
                <a:sym typeface="Arimo Bold"/>
              </a:rPr>
              <a:t>Smishing</a:t>
            </a:r>
          </a:p>
        </p:txBody>
      </p:sp>
      <p:sp>
        <p:nvSpPr>
          <p:cNvPr name="TextBox 35" id="35"/>
          <p:cNvSpPr txBox="true"/>
          <p:nvPr/>
        </p:nvSpPr>
        <p:spPr>
          <a:xfrm rot="0">
            <a:off x="1164727" y="8272615"/>
            <a:ext cx="7585767" cy="639661"/>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Phishing conducted via SMS text messages, often containing malicious links or prompts to call fraudulent phone numbers.</a:t>
            </a:r>
          </a:p>
        </p:txBody>
      </p:sp>
      <p:grpSp>
        <p:nvGrpSpPr>
          <p:cNvPr name="Group 36" id="36"/>
          <p:cNvGrpSpPr/>
          <p:nvPr/>
        </p:nvGrpSpPr>
        <p:grpSpPr>
          <a:xfrm rot="0">
            <a:off x="9242079" y="6468818"/>
            <a:ext cx="8176470" cy="3049038"/>
            <a:chOff x="0" y="0"/>
            <a:chExt cx="10901959" cy="4065384"/>
          </a:xfrm>
        </p:grpSpPr>
        <p:sp>
          <p:nvSpPr>
            <p:cNvPr name="Freeform 37" id="37"/>
            <p:cNvSpPr/>
            <p:nvPr/>
          </p:nvSpPr>
          <p:spPr>
            <a:xfrm flipH="false" flipV="false" rot="0">
              <a:off x="0" y="0"/>
              <a:ext cx="10901934" cy="4065397"/>
            </a:xfrm>
            <a:custGeom>
              <a:avLst/>
              <a:gdLst/>
              <a:ahLst/>
              <a:cxnLst/>
              <a:rect r="r" b="b" t="t" l="l"/>
              <a:pathLst>
                <a:path h="4065397" w="10901934">
                  <a:moveTo>
                    <a:pt x="0" y="142748"/>
                  </a:moveTo>
                  <a:cubicBezTo>
                    <a:pt x="0" y="63881"/>
                    <a:pt x="63881" y="0"/>
                    <a:pt x="142748" y="0"/>
                  </a:cubicBezTo>
                  <a:lnTo>
                    <a:pt x="10759186" y="0"/>
                  </a:lnTo>
                  <a:cubicBezTo>
                    <a:pt x="10838053" y="0"/>
                    <a:pt x="10901934" y="63881"/>
                    <a:pt x="10901934" y="142748"/>
                  </a:cubicBezTo>
                  <a:lnTo>
                    <a:pt x="10901934" y="3922649"/>
                  </a:lnTo>
                  <a:cubicBezTo>
                    <a:pt x="10901934" y="4001516"/>
                    <a:pt x="10838053" y="4065397"/>
                    <a:pt x="10759186" y="4065397"/>
                  </a:cubicBezTo>
                  <a:lnTo>
                    <a:pt x="142748" y="4065397"/>
                  </a:lnTo>
                  <a:cubicBezTo>
                    <a:pt x="63881" y="4065397"/>
                    <a:pt x="0" y="4001516"/>
                    <a:pt x="0" y="3922649"/>
                  </a:cubicBezTo>
                  <a:close/>
                </a:path>
              </a:pathLst>
            </a:custGeom>
            <a:solidFill>
              <a:srgbClr val="101620"/>
            </a:solidFill>
            <a:ln w="28576" cap="sq">
              <a:solidFill>
                <a:srgbClr val="002A80"/>
              </a:solidFill>
              <a:prstDash val="solid"/>
              <a:miter/>
            </a:ln>
          </p:spPr>
        </p:sp>
      </p:grpSp>
      <p:grpSp>
        <p:nvGrpSpPr>
          <p:cNvPr name="Group 38" id="38"/>
          <p:cNvGrpSpPr/>
          <p:nvPr/>
        </p:nvGrpSpPr>
        <p:grpSpPr>
          <a:xfrm rot="0">
            <a:off x="9537354" y="6764093"/>
            <a:ext cx="757533" cy="757533"/>
            <a:chOff x="0" y="0"/>
            <a:chExt cx="1010044" cy="1010044"/>
          </a:xfrm>
        </p:grpSpPr>
        <p:sp>
          <p:nvSpPr>
            <p:cNvPr name="Freeform 39" id="39" descr="preencoded.png"/>
            <p:cNvSpPr/>
            <p:nvPr/>
          </p:nvSpPr>
          <p:spPr>
            <a:xfrm flipH="false" flipV="false" rot="0">
              <a:off x="0" y="0"/>
              <a:ext cx="1010031" cy="1010031"/>
            </a:xfrm>
            <a:custGeom>
              <a:avLst/>
              <a:gdLst/>
              <a:ahLst/>
              <a:cxnLst/>
              <a:rect r="r" b="b" t="t" l="l"/>
              <a:pathLst>
                <a:path h="1010031" w="1010031">
                  <a:moveTo>
                    <a:pt x="0" y="0"/>
                  </a:moveTo>
                  <a:lnTo>
                    <a:pt x="1010031" y="0"/>
                  </a:lnTo>
                  <a:lnTo>
                    <a:pt x="1010031" y="1010031"/>
                  </a:lnTo>
                  <a:lnTo>
                    <a:pt x="0" y="1010031"/>
                  </a:lnTo>
                  <a:lnTo>
                    <a:pt x="0" y="0"/>
                  </a:lnTo>
                  <a:close/>
                </a:path>
              </a:pathLst>
            </a:custGeom>
            <a:blipFill>
              <a:blip r:embed="rId16"/>
              <a:stretch>
                <a:fillRect l="0" t="0" r="-1" b="-1"/>
              </a:stretch>
            </a:blipFill>
          </p:spPr>
        </p:sp>
      </p:grpSp>
      <p:sp>
        <p:nvSpPr>
          <p:cNvPr name="Freeform 40" id="40" descr="preencoded.png"/>
          <p:cNvSpPr/>
          <p:nvPr/>
        </p:nvSpPr>
        <p:spPr>
          <a:xfrm flipH="false" flipV="false" rot="0">
            <a:off x="9745713" y="6972300"/>
            <a:ext cx="340814" cy="340814"/>
          </a:xfrm>
          <a:custGeom>
            <a:avLst/>
            <a:gdLst/>
            <a:ahLst/>
            <a:cxnLst/>
            <a:rect r="r" b="b" t="t" l="l"/>
            <a:pathLst>
              <a:path h="340814" w="340814">
                <a:moveTo>
                  <a:pt x="0" y="0"/>
                </a:moveTo>
                <a:lnTo>
                  <a:pt x="340814" y="0"/>
                </a:lnTo>
                <a:lnTo>
                  <a:pt x="340814" y="340814"/>
                </a:lnTo>
                <a:lnTo>
                  <a:pt x="0" y="34081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41" id="41"/>
          <p:cNvSpPr txBox="true"/>
          <p:nvPr/>
        </p:nvSpPr>
        <p:spPr>
          <a:xfrm rot="0">
            <a:off x="9537354" y="7708402"/>
            <a:ext cx="3156499" cy="448418"/>
          </a:xfrm>
          <a:prstGeom prst="rect">
            <a:avLst/>
          </a:prstGeom>
        </p:spPr>
        <p:txBody>
          <a:bodyPr anchor="t" rtlCol="false" tIns="0" lIns="0" bIns="0" rIns="0">
            <a:spAutoFit/>
          </a:bodyPr>
          <a:lstStyle/>
          <a:p>
            <a:pPr algn="l">
              <a:lnSpc>
                <a:spcPts val="3110"/>
              </a:lnSpc>
            </a:pPr>
            <a:r>
              <a:rPr lang="en-US" sz="2400" b="true">
                <a:solidFill>
                  <a:srgbClr val="EBEDF0"/>
                </a:solidFill>
                <a:latin typeface="Arimo Bold"/>
                <a:ea typeface="Arimo Bold"/>
                <a:cs typeface="Arimo Bold"/>
                <a:sym typeface="Arimo Bold"/>
              </a:rPr>
              <a:t>Vishing</a:t>
            </a:r>
          </a:p>
        </p:txBody>
      </p:sp>
      <p:sp>
        <p:nvSpPr>
          <p:cNvPr name="TextBox 42" id="42"/>
          <p:cNvSpPr txBox="true"/>
          <p:nvPr/>
        </p:nvSpPr>
        <p:spPr>
          <a:xfrm rot="0">
            <a:off x="9537354" y="8272615"/>
            <a:ext cx="7585920" cy="949966"/>
          </a:xfrm>
          <a:prstGeom prst="rect">
            <a:avLst/>
          </a:prstGeom>
        </p:spPr>
        <p:txBody>
          <a:bodyPr anchor="t" rtlCol="false" tIns="0" lIns="0" bIns="0" rIns="0">
            <a:spAutoFit/>
          </a:bodyPr>
          <a:lstStyle/>
          <a:p>
            <a:pPr algn="l">
              <a:lnSpc>
                <a:spcPts val="2325"/>
              </a:lnSpc>
            </a:pPr>
            <a:r>
              <a:rPr lang="en-US" sz="1900">
                <a:solidFill>
                  <a:srgbClr val="EBEDF0"/>
                </a:solidFill>
                <a:latin typeface="Arimo"/>
                <a:ea typeface="Arimo"/>
                <a:cs typeface="Arimo"/>
                <a:sym typeface="Arimo"/>
              </a:rPr>
              <a:t>Voice phishing carried out over phone calls, where attackers impersonate bank representatives, tech support, or government officials.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899217" y="653806"/>
            <a:ext cx="7338117" cy="901598"/>
          </a:xfrm>
          <a:prstGeom prst="rect">
            <a:avLst/>
          </a:prstGeom>
        </p:spPr>
        <p:txBody>
          <a:bodyPr anchor="t" rtlCol="false" tIns="0" lIns="0" bIns="0" rIns="0">
            <a:spAutoFit/>
          </a:bodyPr>
          <a:lstStyle/>
          <a:p>
            <a:pPr algn="l">
              <a:lnSpc>
                <a:spcPts val="6480"/>
              </a:lnSpc>
            </a:pPr>
            <a:r>
              <a:rPr lang="en-US" sz="4999" b="true">
                <a:solidFill>
                  <a:srgbClr val="F2F5FA"/>
                </a:solidFill>
                <a:latin typeface="Arimo Bold"/>
                <a:ea typeface="Arimo Bold"/>
                <a:cs typeface="Arimo Bold"/>
                <a:sym typeface="Arimo Bold"/>
              </a:rPr>
              <a:t>How Phishing Works</a:t>
            </a:r>
          </a:p>
        </p:txBody>
      </p:sp>
      <p:sp>
        <p:nvSpPr>
          <p:cNvPr name="TextBox 7" id="7"/>
          <p:cNvSpPr txBox="true"/>
          <p:nvPr/>
        </p:nvSpPr>
        <p:spPr>
          <a:xfrm rot="0">
            <a:off x="899217" y="2011566"/>
            <a:ext cx="16489556" cy="646214"/>
          </a:xfrm>
          <a:prstGeom prst="rect">
            <a:avLst/>
          </a:prstGeom>
        </p:spPr>
        <p:txBody>
          <a:bodyPr anchor="t" rtlCol="false" tIns="0" lIns="0" bIns="0" rIns="0">
            <a:spAutoFit/>
          </a:bodyPr>
          <a:lstStyle/>
          <a:p>
            <a:pPr algn="l">
              <a:lnSpc>
                <a:spcPts val="2472"/>
              </a:lnSpc>
            </a:pPr>
            <a:r>
              <a:rPr lang="en-US" sz="2000">
                <a:solidFill>
                  <a:srgbClr val="EBEDF0"/>
                </a:solidFill>
                <a:latin typeface="Arimo"/>
                <a:ea typeface="Arimo"/>
                <a:cs typeface="Arimo"/>
                <a:sym typeface="Arimo"/>
              </a:rPr>
              <a:t>Understanding the anatomy of a phishing attack helps you recognize and stop it at every stage. Attackers follow a predictable pattern designed to exploit trust and urgency.</a:t>
            </a:r>
          </a:p>
        </p:txBody>
      </p:sp>
      <p:grpSp>
        <p:nvGrpSpPr>
          <p:cNvPr name="Group 8" id="8"/>
          <p:cNvGrpSpPr/>
          <p:nvPr/>
        </p:nvGrpSpPr>
        <p:grpSpPr>
          <a:xfrm rot="0">
            <a:off x="4301576" y="2919708"/>
            <a:ext cx="9684839" cy="5748042"/>
            <a:chOff x="0" y="0"/>
            <a:chExt cx="12913119" cy="7664056"/>
          </a:xfrm>
        </p:grpSpPr>
        <p:sp>
          <p:nvSpPr>
            <p:cNvPr name="Freeform 9" id="9" descr="preencoded.png"/>
            <p:cNvSpPr/>
            <p:nvPr/>
          </p:nvSpPr>
          <p:spPr>
            <a:xfrm flipH="false" flipV="false" rot="0">
              <a:off x="0" y="0"/>
              <a:ext cx="12913106" cy="7664069"/>
            </a:xfrm>
            <a:custGeom>
              <a:avLst/>
              <a:gdLst/>
              <a:ahLst/>
              <a:cxnLst/>
              <a:rect r="r" b="b" t="t" l="l"/>
              <a:pathLst>
                <a:path h="7664069" w="12913106">
                  <a:moveTo>
                    <a:pt x="0" y="0"/>
                  </a:moveTo>
                  <a:lnTo>
                    <a:pt x="12913106" y="0"/>
                  </a:lnTo>
                  <a:lnTo>
                    <a:pt x="12913106" y="7664069"/>
                  </a:lnTo>
                  <a:lnTo>
                    <a:pt x="0" y="7664069"/>
                  </a:lnTo>
                  <a:lnTo>
                    <a:pt x="0" y="0"/>
                  </a:lnTo>
                  <a:close/>
                </a:path>
              </a:pathLst>
            </a:custGeom>
            <a:blipFill>
              <a:blip r:embed="rId4"/>
              <a:stretch>
                <a:fillRect l="-49" t="0" r="-49" b="0"/>
              </a:stretch>
            </a:blipFill>
          </p:spPr>
        </p:sp>
      </p:grpSp>
      <p:sp>
        <p:nvSpPr>
          <p:cNvPr name="TextBox 10" id="10"/>
          <p:cNvSpPr txBox="true"/>
          <p:nvPr/>
        </p:nvSpPr>
        <p:spPr>
          <a:xfrm rot="0">
            <a:off x="11042390" y="7287082"/>
            <a:ext cx="2407453" cy="520417"/>
          </a:xfrm>
          <a:prstGeom prst="rect">
            <a:avLst/>
          </a:prstGeom>
        </p:spPr>
        <p:txBody>
          <a:bodyPr anchor="t" rtlCol="false" tIns="0" lIns="0" bIns="0" rIns="0">
            <a:spAutoFit/>
          </a:bodyPr>
          <a:lstStyle/>
          <a:p>
            <a:pPr algn="ctr">
              <a:lnSpc>
                <a:spcPts val="3758"/>
              </a:lnSpc>
            </a:pPr>
            <a:r>
              <a:rPr lang="en-US" sz="2900" b="true">
                <a:solidFill>
                  <a:srgbClr val="EBEDF0"/>
                </a:solidFill>
                <a:latin typeface="Arimo Bold"/>
                <a:ea typeface="Arimo Bold"/>
                <a:cs typeface="Arimo Bold"/>
                <a:sym typeface="Arimo Bold"/>
              </a:rPr>
              <a:t>Data Theft</a:t>
            </a:r>
          </a:p>
        </p:txBody>
      </p:sp>
      <p:sp>
        <p:nvSpPr>
          <p:cNvPr name="TextBox 11" id="11"/>
          <p:cNvSpPr txBox="true"/>
          <p:nvPr/>
        </p:nvSpPr>
        <p:spPr>
          <a:xfrm rot="0">
            <a:off x="8008344" y="7045928"/>
            <a:ext cx="2407453" cy="1002725"/>
          </a:xfrm>
          <a:prstGeom prst="rect">
            <a:avLst/>
          </a:prstGeom>
        </p:spPr>
        <p:txBody>
          <a:bodyPr anchor="t" rtlCol="false" tIns="0" lIns="0" bIns="0" rIns="0">
            <a:spAutoFit/>
          </a:bodyPr>
          <a:lstStyle/>
          <a:p>
            <a:pPr algn="ctr">
              <a:lnSpc>
                <a:spcPts val="3758"/>
              </a:lnSpc>
            </a:pPr>
            <a:r>
              <a:rPr lang="en-US" sz="2900" b="true">
                <a:solidFill>
                  <a:srgbClr val="EBEDF0"/>
                </a:solidFill>
                <a:latin typeface="Arimo Bold"/>
                <a:ea typeface="Arimo Bold"/>
                <a:cs typeface="Arimo Bold"/>
                <a:sym typeface="Arimo Bold"/>
              </a:rPr>
              <a:t>Malicious Click</a:t>
            </a:r>
          </a:p>
        </p:txBody>
      </p:sp>
      <p:sp>
        <p:nvSpPr>
          <p:cNvPr name="TextBox 12" id="12"/>
          <p:cNvSpPr txBox="true"/>
          <p:nvPr/>
        </p:nvSpPr>
        <p:spPr>
          <a:xfrm rot="0">
            <a:off x="4924825" y="7045928"/>
            <a:ext cx="2407453" cy="1002725"/>
          </a:xfrm>
          <a:prstGeom prst="rect">
            <a:avLst/>
          </a:prstGeom>
        </p:spPr>
        <p:txBody>
          <a:bodyPr anchor="t" rtlCol="false" tIns="0" lIns="0" bIns="0" rIns="0">
            <a:spAutoFit/>
          </a:bodyPr>
          <a:lstStyle/>
          <a:p>
            <a:pPr algn="ctr">
              <a:lnSpc>
                <a:spcPts val="3758"/>
              </a:lnSpc>
            </a:pPr>
            <a:r>
              <a:rPr lang="en-US" sz="2900" b="true">
                <a:solidFill>
                  <a:srgbClr val="EBEDF0"/>
                </a:solidFill>
                <a:latin typeface="Arimo Bold"/>
                <a:ea typeface="Arimo Bold"/>
                <a:cs typeface="Arimo Bold"/>
                <a:sym typeface="Arimo Bold"/>
              </a:rPr>
              <a:t>Fake Message</a:t>
            </a:r>
          </a:p>
        </p:txBody>
      </p:sp>
      <p:sp>
        <p:nvSpPr>
          <p:cNvPr name="TextBox 13" id="13"/>
          <p:cNvSpPr txBox="true"/>
          <p:nvPr/>
        </p:nvSpPr>
        <p:spPr>
          <a:xfrm rot="0">
            <a:off x="899217" y="8920163"/>
            <a:ext cx="16489556" cy="646214"/>
          </a:xfrm>
          <a:prstGeom prst="rect">
            <a:avLst/>
          </a:prstGeom>
        </p:spPr>
        <p:txBody>
          <a:bodyPr anchor="t" rtlCol="false" tIns="0" lIns="0" bIns="0" rIns="0">
            <a:spAutoFit/>
          </a:bodyPr>
          <a:lstStyle/>
          <a:p>
            <a:pPr algn="l">
              <a:lnSpc>
                <a:spcPts val="2472"/>
              </a:lnSpc>
            </a:pPr>
            <a:r>
              <a:rPr lang="en-US" sz="2000">
                <a:solidFill>
                  <a:srgbClr val="EBEDF0"/>
                </a:solidFill>
                <a:latin typeface="Arimo"/>
                <a:ea typeface="Arimo"/>
                <a:cs typeface="Arimo"/>
                <a:sym typeface="Arimo"/>
              </a:rPr>
              <a:t>Each stage of a phishing attack is carefully engineered to bypass your suspicion. The attacker invests time in making the message look authentic — using real logos, familiar language, and spoofed email addresses. Once the victim engages, the damage can happen in seconds.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914695" y="662883"/>
            <a:ext cx="11687623" cy="925706"/>
          </a:xfrm>
          <a:prstGeom prst="rect">
            <a:avLst/>
          </a:prstGeom>
        </p:spPr>
        <p:txBody>
          <a:bodyPr anchor="t" rtlCol="false" tIns="0" lIns="0" bIns="0" rIns="0">
            <a:spAutoFit/>
          </a:bodyPr>
          <a:lstStyle/>
          <a:p>
            <a:pPr algn="l">
              <a:lnSpc>
                <a:spcPts val="6609"/>
              </a:lnSpc>
            </a:pPr>
            <a:r>
              <a:rPr lang="en-US" sz="5100" b="true">
                <a:solidFill>
                  <a:srgbClr val="F2F5FA"/>
                </a:solidFill>
                <a:latin typeface="Arimo Bold"/>
                <a:ea typeface="Arimo Bold"/>
                <a:cs typeface="Arimo Bold"/>
                <a:sym typeface="Arimo Bold"/>
              </a:rPr>
              <a:t>Common Signs of Phishing Emails</a:t>
            </a:r>
          </a:p>
        </p:txBody>
      </p:sp>
      <p:sp>
        <p:nvSpPr>
          <p:cNvPr name="TextBox 7" id="7"/>
          <p:cNvSpPr txBox="true"/>
          <p:nvPr/>
        </p:nvSpPr>
        <p:spPr>
          <a:xfrm rot="0">
            <a:off x="914695" y="2060972"/>
            <a:ext cx="16458600" cy="662283"/>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Learning to spot the warning signs of a phishing email is one of the most powerful defenses you have. Always pause and inspect before you click.</a:t>
            </a:r>
          </a:p>
        </p:txBody>
      </p:sp>
      <p:sp>
        <p:nvSpPr>
          <p:cNvPr name="Freeform 8" id="8" descr="preencoded.png"/>
          <p:cNvSpPr/>
          <p:nvPr/>
        </p:nvSpPr>
        <p:spPr>
          <a:xfrm flipH="false" flipV="false" rot="0">
            <a:off x="886120" y="2994269"/>
            <a:ext cx="5354088" cy="3531841"/>
          </a:xfrm>
          <a:custGeom>
            <a:avLst/>
            <a:gdLst/>
            <a:ahLst/>
            <a:cxnLst/>
            <a:rect r="r" b="b" t="t" l="l"/>
            <a:pathLst>
              <a:path h="3531841" w="5354088">
                <a:moveTo>
                  <a:pt x="0" y="0"/>
                </a:moveTo>
                <a:lnTo>
                  <a:pt x="5354089" y="0"/>
                </a:lnTo>
                <a:lnTo>
                  <a:pt x="5354089" y="3531842"/>
                </a:lnTo>
                <a:lnTo>
                  <a:pt x="0" y="3531842"/>
                </a:lnTo>
                <a:lnTo>
                  <a:pt x="0" y="0"/>
                </a:lnTo>
                <a:close/>
              </a:path>
            </a:pathLst>
          </a:custGeom>
          <a:blipFill>
            <a:blip r:embed="rId4">
              <a:extLst>
                <a:ext uri="{96DAC541-7B7A-43D3-8B79-37D633B846F1}">
                  <asvg:svgBlip xmlns:asvg="http://schemas.microsoft.com/office/drawing/2016/SVG/main" r:embed="rId5"/>
                </a:ext>
              </a:extLst>
            </a:blip>
            <a:stretch>
              <a:fillRect l="-51" t="0" r="-51" b="0"/>
            </a:stretch>
          </a:blipFill>
        </p:spPr>
      </p:sp>
      <p:sp>
        <p:nvSpPr>
          <p:cNvPr name="TextBox 9" id="9"/>
          <p:cNvSpPr txBox="true"/>
          <p:nvPr/>
        </p:nvSpPr>
        <p:spPr>
          <a:xfrm rot="0">
            <a:off x="1290342" y="3246091"/>
            <a:ext cx="4659954" cy="887311"/>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Suspicious Sender Address</a:t>
            </a:r>
          </a:p>
        </p:txBody>
      </p:sp>
      <p:sp>
        <p:nvSpPr>
          <p:cNvPr name="TextBox 10" id="10"/>
          <p:cNvSpPr txBox="true"/>
          <p:nvPr/>
        </p:nvSpPr>
        <p:spPr>
          <a:xfrm rot="0">
            <a:off x="1290342" y="4268391"/>
            <a:ext cx="4659954" cy="1967808"/>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The "From" address may look legitimate at first glance but contains subtle misspellings or uses a free email domain (e.g., support@paypa1.com or noreply@google-support.net).</a:t>
            </a:r>
          </a:p>
        </p:txBody>
      </p:sp>
      <p:sp>
        <p:nvSpPr>
          <p:cNvPr name="Freeform 11" id="11" descr="preencoded.png"/>
          <p:cNvSpPr/>
          <p:nvPr/>
        </p:nvSpPr>
        <p:spPr>
          <a:xfrm flipH="false" flipV="false" rot="0">
            <a:off x="6452587" y="2994269"/>
            <a:ext cx="5354088" cy="3531841"/>
          </a:xfrm>
          <a:custGeom>
            <a:avLst/>
            <a:gdLst/>
            <a:ahLst/>
            <a:cxnLst/>
            <a:rect r="r" b="b" t="t" l="l"/>
            <a:pathLst>
              <a:path h="3531841" w="5354088">
                <a:moveTo>
                  <a:pt x="0" y="0"/>
                </a:moveTo>
                <a:lnTo>
                  <a:pt x="5354089" y="0"/>
                </a:lnTo>
                <a:lnTo>
                  <a:pt x="5354089" y="3531842"/>
                </a:lnTo>
                <a:lnTo>
                  <a:pt x="0" y="3531842"/>
                </a:lnTo>
                <a:lnTo>
                  <a:pt x="0" y="0"/>
                </a:lnTo>
                <a:close/>
              </a:path>
            </a:pathLst>
          </a:custGeom>
          <a:blipFill>
            <a:blip r:embed="rId4">
              <a:extLst>
                <a:ext uri="{96DAC541-7B7A-43D3-8B79-37D633B846F1}">
                  <asvg:svgBlip xmlns:asvg="http://schemas.microsoft.com/office/drawing/2016/SVG/main" r:embed="rId5"/>
                </a:ext>
              </a:extLst>
            </a:blip>
            <a:stretch>
              <a:fillRect l="-51" t="0" r="-51" b="0"/>
            </a:stretch>
          </a:blipFill>
        </p:spPr>
      </p:sp>
      <p:sp>
        <p:nvSpPr>
          <p:cNvPr name="TextBox 12" id="12"/>
          <p:cNvSpPr txBox="true"/>
          <p:nvPr/>
        </p:nvSpPr>
        <p:spPr>
          <a:xfrm rot="0">
            <a:off x="6856809" y="3246091"/>
            <a:ext cx="4659954" cy="887311"/>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Urgent or Threatening Language</a:t>
            </a:r>
          </a:p>
        </p:txBody>
      </p:sp>
      <p:sp>
        <p:nvSpPr>
          <p:cNvPr name="TextBox 13" id="13"/>
          <p:cNvSpPr txBox="true"/>
          <p:nvPr/>
        </p:nvSpPr>
        <p:spPr>
          <a:xfrm rot="0">
            <a:off x="6856809" y="4268391"/>
            <a:ext cx="4659954" cy="1315041"/>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Phrases like "Your account will be suspended in 24 hours!" or "Immediate action required!" are designed to panic you into acting without thinking.</a:t>
            </a:r>
          </a:p>
        </p:txBody>
      </p:sp>
      <p:sp>
        <p:nvSpPr>
          <p:cNvPr name="Freeform 14" id="14" descr="preencoded.png"/>
          <p:cNvSpPr/>
          <p:nvPr/>
        </p:nvSpPr>
        <p:spPr>
          <a:xfrm flipH="false" flipV="false" rot="0">
            <a:off x="12019064" y="2994269"/>
            <a:ext cx="5354088" cy="3531841"/>
          </a:xfrm>
          <a:custGeom>
            <a:avLst/>
            <a:gdLst/>
            <a:ahLst/>
            <a:cxnLst/>
            <a:rect r="r" b="b" t="t" l="l"/>
            <a:pathLst>
              <a:path h="3531841" w="5354088">
                <a:moveTo>
                  <a:pt x="0" y="0"/>
                </a:moveTo>
                <a:lnTo>
                  <a:pt x="5354088" y="0"/>
                </a:lnTo>
                <a:lnTo>
                  <a:pt x="5354088" y="3531842"/>
                </a:lnTo>
                <a:lnTo>
                  <a:pt x="0" y="3531842"/>
                </a:lnTo>
                <a:lnTo>
                  <a:pt x="0" y="0"/>
                </a:lnTo>
                <a:close/>
              </a:path>
            </a:pathLst>
          </a:custGeom>
          <a:blipFill>
            <a:blip r:embed="rId4">
              <a:extLst>
                <a:ext uri="{96DAC541-7B7A-43D3-8B79-37D633B846F1}">
                  <asvg:svgBlip xmlns:asvg="http://schemas.microsoft.com/office/drawing/2016/SVG/main" r:embed="rId5"/>
                </a:ext>
              </a:extLst>
            </a:blip>
            <a:stretch>
              <a:fillRect l="-51" t="0" r="-51" b="0"/>
            </a:stretch>
          </a:blipFill>
        </p:spPr>
      </p:sp>
      <p:sp>
        <p:nvSpPr>
          <p:cNvPr name="TextBox 15" id="15"/>
          <p:cNvSpPr txBox="true"/>
          <p:nvPr/>
        </p:nvSpPr>
        <p:spPr>
          <a:xfrm rot="0">
            <a:off x="12423277" y="3246091"/>
            <a:ext cx="4659954" cy="887311"/>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Spelling and Grammar Mistakes</a:t>
            </a:r>
          </a:p>
        </p:txBody>
      </p:sp>
      <p:sp>
        <p:nvSpPr>
          <p:cNvPr name="TextBox 16" id="16"/>
          <p:cNvSpPr txBox="true"/>
          <p:nvPr/>
        </p:nvSpPr>
        <p:spPr>
          <a:xfrm rot="0">
            <a:off x="12423277" y="4268391"/>
            <a:ext cx="4659954" cy="1641424"/>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Legitimate organizations proofread their communications. Unusual phrasing, awkward grammar, or obvious typos are red flags that the message may not be genuine.</a:t>
            </a:r>
          </a:p>
        </p:txBody>
      </p:sp>
      <p:sp>
        <p:nvSpPr>
          <p:cNvPr name="Freeform 17" id="17" descr="preencoded.png"/>
          <p:cNvSpPr/>
          <p:nvPr/>
        </p:nvSpPr>
        <p:spPr>
          <a:xfrm flipH="false" flipV="false" rot="0">
            <a:off x="886120" y="6767065"/>
            <a:ext cx="5354088" cy="2780852"/>
          </a:xfrm>
          <a:custGeom>
            <a:avLst/>
            <a:gdLst/>
            <a:ahLst/>
            <a:cxnLst/>
            <a:rect r="r" b="b" t="t" l="l"/>
            <a:pathLst>
              <a:path h="2780852" w="5354088">
                <a:moveTo>
                  <a:pt x="0" y="0"/>
                </a:moveTo>
                <a:lnTo>
                  <a:pt x="5354089" y="0"/>
                </a:lnTo>
                <a:lnTo>
                  <a:pt x="5354089" y="2780852"/>
                </a:lnTo>
                <a:lnTo>
                  <a:pt x="0" y="2780852"/>
                </a:lnTo>
                <a:lnTo>
                  <a:pt x="0" y="0"/>
                </a:lnTo>
                <a:close/>
              </a:path>
            </a:pathLst>
          </a:custGeom>
          <a:blipFill>
            <a:blip r:embed="rId6">
              <a:extLst>
                <a:ext uri="{96DAC541-7B7A-43D3-8B79-37D633B846F1}">
                  <asvg:svgBlip xmlns:asvg="http://schemas.microsoft.com/office/drawing/2016/SVG/main" r:embed="rId7"/>
                </a:ext>
              </a:extLst>
            </a:blip>
            <a:stretch>
              <a:fillRect l="-71" t="0" r="-71" b="0"/>
            </a:stretch>
          </a:blipFill>
        </p:spPr>
      </p:sp>
      <p:sp>
        <p:nvSpPr>
          <p:cNvPr name="TextBox 18" id="18"/>
          <p:cNvSpPr txBox="true"/>
          <p:nvPr/>
        </p:nvSpPr>
        <p:spPr>
          <a:xfrm rot="0">
            <a:off x="1290342" y="7018887"/>
            <a:ext cx="4555779"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Unexpected Attachments</a:t>
            </a:r>
          </a:p>
        </p:txBody>
      </p:sp>
      <p:sp>
        <p:nvSpPr>
          <p:cNvPr name="TextBox 19" id="19"/>
          <p:cNvSpPr txBox="true"/>
          <p:nvPr/>
        </p:nvSpPr>
        <p:spPr>
          <a:xfrm rot="0">
            <a:off x="1290342" y="7616581"/>
            <a:ext cx="4659954" cy="1315041"/>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Unsolicited attachments — especially .exe, .zip, or Office files with macros — can contain malware. Never open attachments you weren't expecting.</a:t>
            </a:r>
          </a:p>
        </p:txBody>
      </p:sp>
      <p:sp>
        <p:nvSpPr>
          <p:cNvPr name="Freeform 20" id="20" descr="preencoded.png"/>
          <p:cNvSpPr/>
          <p:nvPr/>
        </p:nvSpPr>
        <p:spPr>
          <a:xfrm flipH="false" flipV="false" rot="0">
            <a:off x="6452587" y="6767065"/>
            <a:ext cx="5354088" cy="2780852"/>
          </a:xfrm>
          <a:custGeom>
            <a:avLst/>
            <a:gdLst/>
            <a:ahLst/>
            <a:cxnLst/>
            <a:rect r="r" b="b" t="t" l="l"/>
            <a:pathLst>
              <a:path h="2780852" w="5354088">
                <a:moveTo>
                  <a:pt x="0" y="0"/>
                </a:moveTo>
                <a:lnTo>
                  <a:pt x="5354089" y="0"/>
                </a:lnTo>
                <a:lnTo>
                  <a:pt x="5354089" y="2780852"/>
                </a:lnTo>
                <a:lnTo>
                  <a:pt x="0" y="2780852"/>
                </a:lnTo>
                <a:lnTo>
                  <a:pt x="0" y="0"/>
                </a:lnTo>
                <a:close/>
              </a:path>
            </a:pathLst>
          </a:custGeom>
          <a:blipFill>
            <a:blip r:embed="rId6">
              <a:extLst>
                <a:ext uri="{96DAC541-7B7A-43D3-8B79-37D633B846F1}">
                  <asvg:svgBlip xmlns:asvg="http://schemas.microsoft.com/office/drawing/2016/SVG/main" r:embed="rId7"/>
                </a:ext>
              </a:extLst>
            </a:blip>
            <a:stretch>
              <a:fillRect l="-71" t="0" r="-71" b="0"/>
            </a:stretch>
          </a:blipFill>
        </p:spPr>
      </p:sp>
      <p:sp>
        <p:nvSpPr>
          <p:cNvPr name="TextBox 21" id="21"/>
          <p:cNvSpPr txBox="true"/>
          <p:nvPr/>
        </p:nvSpPr>
        <p:spPr>
          <a:xfrm rot="0">
            <a:off x="6856809" y="7018887"/>
            <a:ext cx="4407846"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Fake or Misleading Links</a:t>
            </a:r>
          </a:p>
        </p:txBody>
      </p:sp>
      <p:sp>
        <p:nvSpPr>
          <p:cNvPr name="TextBox 22" id="22"/>
          <p:cNvSpPr txBox="true"/>
          <p:nvPr/>
        </p:nvSpPr>
        <p:spPr>
          <a:xfrm rot="0">
            <a:off x="6856809" y="7616581"/>
            <a:ext cx="4659954" cy="1641424"/>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Hover over any link before clicking. The displayed text may say "www.yourbank.com" but the actual URL destination could be a completely different malicious site.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1654673" y="615105"/>
            <a:ext cx="7238257" cy="762743"/>
          </a:xfrm>
          <a:prstGeom prst="rect">
            <a:avLst/>
          </a:prstGeom>
        </p:spPr>
        <p:txBody>
          <a:bodyPr anchor="t" rtlCol="false" tIns="0" lIns="0" bIns="0" rIns="0">
            <a:spAutoFit/>
          </a:bodyPr>
          <a:lstStyle/>
          <a:p>
            <a:pPr algn="l">
              <a:lnSpc>
                <a:spcPts val="5443"/>
              </a:lnSpc>
            </a:pPr>
            <a:r>
              <a:rPr lang="en-US" sz="4200" b="true">
                <a:solidFill>
                  <a:srgbClr val="F2F5FA"/>
                </a:solidFill>
                <a:latin typeface="Arimo Bold"/>
                <a:ea typeface="Arimo Bold"/>
                <a:cs typeface="Arimo Bold"/>
                <a:sym typeface="Arimo Bold"/>
              </a:rPr>
              <a:t>Fake Website Detection</a:t>
            </a:r>
          </a:p>
        </p:txBody>
      </p:sp>
      <p:grpSp>
        <p:nvGrpSpPr>
          <p:cNvPr name="Group 7" id="7"/>
          <p:cNvGrpSpPr/>
          <p:nvPr/>
        </p:nvGrpSpPr>
        <p:grpSpPr>
          <a:xfrm rot="0">
            <a:off x="1654673" y="1814065"/>
            <a:ext cx="9550594" cy="5411991"/>
            <a:chOff x="0" y="0"/>
            <a:chExt cx="12734125" cy="7215988"/>
          </a:xfrm>
        </p:grpSpPr>
        <p:sp>
          <p:nvSpPr>
            <p:cNvPr name="Freeform 8" id="8" descr="preencoded.png"/>
            <p:cNvSpPr/>
            <p:nvPr/>
          </p:nvSpPr>
          <p:spPr>
            <a:xfrm flipH="false" flipV="false" rot="0">
              <a:off x="0" y="0"/>
              <a:ext cx="12734163" cy="7216013"/>
            </a:xfrm>
            <a:custGeom>
              <a:avLst/>
              <a:gdLst/>
              <a:ahLst/>
              <a:cxnLst/>
              <a:rect r="r" b="b" t="t" l="l"/>
              <a:pathLst>
                <a:path h="7216013" w="12734163">
                  <a:moveTo>
                    <a:pt x="0" y="0"/>
                  </a:moveTo>
                  <a:lnTo>
                    <a:pt x="12734163" y="0"/>
                  </a:lnTo>
                  <a:lnTo>
                    <a:pt x="12734163" y="7216013"/>
                  </a:lnTo>
                  <a:lnTo>
                    <a:pt x="0" y="7216013"/>
                  </a:lnTo>
                  <a:lnTo>
                    <a:pt x="0" y="0"/>
                  </a:lnTo>
                  <a:close/>
                </a:path>
              </a:pathLst>
            </a:custGeom>
            <a:blipFill>
              <a:blip r:embed="rId4"/>
              <a:stretch>
                <a:fillRect l="-32" t="0" r="-31" b="0"/>
              </a:stretch>
            </a:blipFill>
          </p:spPr>
        </p:sp>
      </p:grpSp>
      <p:sp>
        <p:nvSpPr>
          <p:cNvPr name="TextBox 9" id="9"/>
          <p:cNvSpPr txBox="true"/>
          <p:nvPr/>
        </p:nvSpPr>
        <p:spPr>
          <a:xfrm rot="0">
            <a:off x="11744325" y="3742134"/>
            <a:ext cx="4615310" cy="381152"/>
          </a:xfrm>
          <a:prstGeom prst="rect">
            <a:avLst/>
          </a:prstGeom>
        </p:spPr>
        <p:txBody>
          <a:bodyPr anchor="t" rtlCol="false" tIns="0" lIns="0" bIns="0" rIns="0">
            <a:spAutoFit/>
          </a:bodyPr>
          <a:lstStyle/>
          <a:p>
            <a:pPr algn="l">
              <a:lnSpc>
                <a:spcPts val="2721"/>
              </a:lnSpc>
            </a:pPr>
            <a:r>
              <a:rPr lang="en-US" sz="2100" b="true">
                <a:solidFill>
                  <a:srgbClr val="F2F5FA"/>
                </a:solidFill>
                <a:latin typeface="Arimo Bold"/>
                <a:ea typeface="Arimo Bold"/>
                <a:cs typeface="Arimo Bold"/>
                <a:sym typeface="Arimo Bold"/>
              </a:rPr>
              <a:t>How to Spot a Fake Website</a:t>
            </a:r>
          </a:p>
        </p:txBody>
      </p:sp>
      <p:sp>
        <p:nvSpPr>
          <p:cNvPr name="TextBox 10" id="10"/>
          <p:cNvSpPr txBox="true"/>
          <p:nvPr/>
        </p:nvSpPr>
        <p:spPr>
          <a:xfrm rot="0">
            <a:off x="11744325" y="4279849"/>
            <a:ext cx="4898231" cy="1006078"/>
          </a:xfrm>
          <a:prstGeom prst="rect">
            <a:avLst/>
          </a:prstGeom>
        </p:spPr>
        <p:txBody>
          <a:bodyPr anchor="t" rtlCol="false" tIns="0" lIns="0" bIns="0" rIns="0">
            <a:spAutoFit/>
          </a:bodyPr>
          <a:lstStyle/>
          <a:p>
            <a:pPr algn="l">
              <a:lnSpc>
                <a:spcPts val="1958"/>
              </a:lnSpc>
            </a:pPr>
            <a:r>
              <a:rPr lang="en-US" sz="1700">
                <a:solidFill>
                  <a:srgbClr val="EBEDF0"/>
                </a:solidFill>
                <a:latin typeface="Arimo"/>
                <a:ea typeface="Arimo"/>
                <a:cs typeface="Arimo"/>
                <a:sym typeface="Arimo"/>
              </a:rPr>
              <a:t>Phishing attacks often direct victims to convincing fake websites designed to harvest login credentials. Knowing what to look for can save you from falling victim.</a:t>
            </a:r>
          </a:p>
        </p:txBody>
      </p:sp>
      <p:grpSp>
        <p:nvGrpSpPr>
          <p:cNvPr name="Group 11" id="11"/>
          <p:cNvGrpSpPr/>
          <p:nvPr/>
        </p:nvGrpSpPr>
        <p:grpSpPr>
          <a:xfrm rot="0">
            <a:off x="1645148" y="7590387"/>
            <a:ext cx="507359" cy="507359"/>
            <a:chOff x="0" y="0"/>
            <a:chExt cx="676478" cy="676478"/>
          </a:xfrm>
        </p:grpSpPr>
        <p:sp>
          <p:nvSpPr>
            <p:cNvPr name="Freeform 12" id="12"/>
            <p:cNvSpPr/>
            <p:nvPr/>
          </p:nvSpPr>
          <p:spPr>
            <a:xfrm flipH="false" flipV="false" rot="0">
              <a:off x="0" y="0"/>
              <a:ext cx="676529" cy="676529"/>
            </a:xfrm>
            <a:custGeom>
              <a:avLst/>
              <a:gdLst/>
              <a:ahLst/>
              <a:cxnLst/>
              <a:rect r="r" b="b" t="t" l="l"/>
              <a:pathLst>
                <a:path h="676529" w="676529">
                  <a:moveTo>
                    <a:pt x="0" y="126365"/>
                  </a:moveTo>
                  <a:cubicBezTo>
                    <a:pt x="0" y="56515"/>
                    <a:pt x="56515" y="0"/>
                    <a:pt x="126365" y="0"/>
                  </a:cubicBezTo>
                  <a:lnTo>
                    <a:pt x="550164" y="0"/>
                  </a:lnTo>
                  <a:cubicBezTo>
                    <a:pt x="619887" y="0"/>
                    <a:pt x="676529" y="56515"/>
                    <a:pt x="676529" y="126365"/>
                  </a:cubicBezTo>
                  <a:lnTo>
                    <a:pt x="676529" y="550164"/>
                  </a:lnTo>
                  <a:cubicBezTo>
                    <a:pt x="676529" y="619887"/>
                    <a:pt x="620014" y="676529"/>
                    <a:pt x="550164" y="676529"/>
                  </a:cubicBezTo>
                  <a:lnTo>
                    <a:pt x="126365" y="676529"/>
                  </a:lnTo>
                  <a:cubicBezTo>
                    <a:pt x="56515" y="676529"/>
                    <a:pt x="0" y="619887"/>
                    <a:pt x="0" y="550164"/>
                  </a:cubicBezTo>
                  <a:close/>
                </a:path>
              </a:pathLst>
            </a:custGeom>
            <a:solidFill>
              <a:srgbClr val="101620"/>
            </a:solidFill>
            <a:ln w="19050" cap="sq">
              <a:solidFill>
                <a:srgbClr val="002A80"/>
              </a:solidFill>
              <a:prstDash val="solid"/>
              <a:miter/>
            </a:ln>
          </p:spPr>
        </p:sp>
      </p:grpSp>
      <p:grpSp>
        <p:nvGrpSpPr>
          <p:cNvPr name="Group 13" id="13"/>
          <p:cNvGrpSpPr/>
          <p:nvPr/>
        </p:nvGrpSpPr>
        <p:grpSpPr>
          <a:xfrm rot="0">
            <a:off x="1736007" y="7632354"/>
            <a:ext cx="325488" cy="423272"/>
            <a:chOff x="0" y="0"/>
            <a:chExt cx="433984" cy="564363"/>
          </a:xfrm>
        </p:grpSpPr>
        <p:sp>
          <p:nvSpPr>
            <p:cNvPr name="Freeform 14" id="14"/>
            <p:cNvSpPr/>
            <p:nvPr/>
          </p:nvSpPr>
          <p:spPr>
            <a:xfrm flipH="false" flipV="false" rot="0">
              <a:off x="0" y="0"/>
              <a:ext cx="433984" cy="564357"/>
            </a:xfrm>
            <a:custGeom>
              <a:avLst/>
              <a:gdLst/>
              <a:ahLst/>
              <a:cxnLst/>
              <a:rect r="r" b="b" t="t" l="l"/>
              <a:pathLst>
                <a:path h="564357" w="433984">
                  <a:moveTo>
                    <a:pt x="0" y="0"/>
                  </a:moveTo>
                  <a:lnTo>
                    <a:pt x="433984" y="0"/>
                  </a:lnTo>
                  <a:lnTo>
                    <a:pt x="433984" y="564357"/>
                  </a:lnTo>
                  <a:lnTo>
                    <a:pt x="0" y="564357"/>
                  </a:lnTo>
                  <a:close/>
                </a:path>
              </a:pathLst>
            </a:custGeom>
            <a:blipFill>
              <a:blip r:embed="rId5">
                <a:alphaModFix amt="0"/>
              </a:blip>
              <a:stretch>
                <a:fillRect l="-116848" t="0" r="-116848" b="0"/>
              </a:stretch>
            </a:blipFill>
          </p:spPr>
        </p:sp>
        <p:sp>
          <p:nvSpPr>
            <p:cNvPr name="TextBox 15" id="15"/>
            <p:cNvSpPr txBox="true"/>
            <p:nvPr/>
          </p:nvSpPr>
          <p:spPr>
            <a:xfrm>
              <a:off x="0" y="-9525"/>
              <a:ext cx="433984" cy="573888"/>
            </a:xfrm>
            <a:prstGeom prst="rect">
              <a:avLst/>
            </a:prstGeom>
          </p:spPr>
          <p:txBody>
            <a:bodyPr anchor="ctr" rtlCol="false" tIns="0" lIns="0" bIns="0" rIns="0"/>
            <a:lstStyle/>
            <a:p>
              <a:pPr algn="ctr">
                <a:lnSpc>
                  <a:spcPts val="2999"/>
                </a:lnSpc>
              </a:pPr>
              <a:r>
                <a:rPr lang="en-US" sz="2499" b="true">
                  <a:solidFill>
                    <a:srgbClr val="EBEDF0"/>
                  </a:solidFill>
                  <a:latin typeface="Arimo Bold"/>
                  <a:ea typeface="Arimo Bold"/>
                  <a:cs typeface="Arimo Bold"/>
                  <a:sym typeface="Arimo Bold"/>
                </a:rPr>
                <a:t>1</a:t>
              </a:r>
            </a:p>
          </p:txBody>
        </p:sp>
      </p:grpSp>
      <p:sp>
        <p:nvSpPr>
          <p:cNvPr name="TextBox 16" id="16"/>
          <p:cNvSpPr txBox="true"/>
          <p:nvPr/>
        </p:nvSpPr>
        <p:spPr>
          <a:xfrm rot="0">
            <a:off x="2309070" y="7639050"/>
            <a:ext cx="3244301" cy="381152"/>
          </a:xfrm>
          <a:prstGeom prst="rect">
            <a:avLst/>
          </a:prstGeom>
        </p:spPr>
        <p:txBody>
          <a:bodyPr anchor="t" rtlCol="false" tIns="0" lIns="0" bIns="0" rIns="0">
            <a:spAutoFit/>
          </a:bodyPr>
          <a:lstStyle/>
          <a:p>
            <a:pPr algn="l">
              <a:lnSpc>
                <a:spcPts val="2721"/>
              </a:lnSpc>
            </a:pPr>
            <a:r>
              <a:rPr lang="en-US" sz="2100" b="true">
                <a:solidFill>
                  <a:srgbClr val="EBEDF0"/>
                </a:solidFill>
                <a:latin typeface="Arimo Bold"/>
                <a:ea typeface="Arimo Bold"/>
                <a:cs typeface="Arimo Bold"/>
                <a:sym typeface="Arimo Bold"/>
              </a:rPr>
              <a:t>Check the URL Carefully</a:t>
            </a:r>
          </a:p>
        </p:txBody>
      </p:sp>
      <p:sp>
        <p:nvSpPr>
          <p:cNvPr name="TextBox 17" id="17"/>
          <p:cNvSpPr txBox="true"/>
          <p:nvPr/>
        </p:nvSpPr>
        <p:spPr>
          <a:xfrm rot="0">
            <a:off x="2309070" y="8110385"/>
            <a:ext cx="4199934" cy="1504359"/>
          </a:xfrm>
          <a:prstGeom prst="rect">
            <a:avLst/>
          </a:prstGeom>
        </p:spPr>
        <p:txBody>
          <a:bodyPr anchor="t" rtlCol="false" tIns="0" lIns="0" bIns="0" rIns="0">
            <a:spAutoFit/>
          </a:bodyPr>
          <a:lstStyle/>
          <a:p>
            <a:pPr algn="l">
              <a:lnSpc>
                <a:spcPts val="1958"/>
              </a:lnSpc>
            </a:pPr>
            <a:r>
              <a:rPr lang="en-US" sz="1700">
                <a:solidFill>
                  <a:srgbClr val="EBEDF0"/>
                </a:solidFill>
                <a:latin typeface="Arimo"/>
                <a:ea typeface="Arimo"/>
                <a:cs typeface="Arimo"/>
                <a:sym typeface="Arimo"/>
              </a:rPr>
              <a:t>Always examine the full URL in the address bar. Attackers use tricks like substituting letters (e.g., "rn" for "m"), adding extra words (e.g., "secure-paypal-login.com"), or using different top-level domains.</a:t>
            </a:r>
          </a:p>
        </p:txBody>
      </p:sp>
      <p:grpSp>
        <p:nvGrpSpPr>
          <p:cNvPr name="Group 18" id="18"/>
          <p:cNvGrpSpPr/>
          <p:nvPr/>
        </p:nvGrpSpPr>
        <p:grpSpPr>
          <a:xfrm rot="0">
            <a:off x="6707086" y="7590387"/>
            <a:ext cx="507359" cy="507359"/>
            <a:chOff x="0" y="0"/>
            <a:chExt cx="676478" cy="676478"/>
          </a:xfrm>
        </p:grpSpPr>
        <p:sp>
          <p:nvSpPr>
            <p:cNvPr name="Freeform 19" id="19"/>
            <p:cNvSpPr/>
            <p:nvPr/>
          </p:nvSpPr>
          <p:spPr>
            <a:xfrm flipH="false" flipV="false" rot="0">
              <a:off x="0" y="0"/>
              <a:ext cx="676529" cy="676529"/>
            </a:xfrm>
            <a:custGeom>
              <a:avLst/>
              <a:gdLst/>
              <a:ahLst/>
              <a:cxnLst/>
              <a:rect r="r" b="b" t="t" l="l"/>
              <a:pathLst>
                <a:path h="676529" w="676529">
                  <a:moveTo>
                    <a:pt x="0" y="126365"/>
                  </a:moveTo>
                  <a:cubicBezTo>
                    <a:pt x="0" y="56515"/>
                    <a:pt x="56515" y="0"/>
                    <a:pt x="126365" y="0"/>
                  </a:cubicBezTo>
                  <a:lnTo>
                    <a:pt x="550164" y="0"/>
                  </a:lnTo>
                  <a:cubicBezTo>
                    <a:pt x="619887" y="0"/>
                    <a:pt x="676529" y="56515"/>
                    <a:pt x="676529" y="126365"/>
                  </a:cubicBezTo>
                  <a:lnTo>
                    <a:pt x="676529" y="550164"/>
                  </a:lnTo>
                  <a:cubicBezTo>
                    <a:pt x="676529" y="619887"/>
                    <a:pt x="620014" y="676529"/>
                    <a:pt x="550164" y="676529"/>
                  </a:cubicBezTo>
                  <a:lnTo>
                    <a:pt x="126365" y="676529"/>
                  </a:lnTo>
                  <a:cubicBezTo>
                    <a:pt x="56515" y="676529"/>
                    <a:pt x="0" y="619887"/>
                    <a:pt x="0" y="550164"/>
                  </a:cubicBezTo>
                  <a:close/>
                </a:path>
              </a:pathLst>
            </a:custGeom>
            <a:solidFill>
              <a:srgbClr val="101620"/>
            </a:solidFill>
            <a:ln w="19050" cap="sq">
              <a:solidFill>
                <a:srgbClr val="002A80"/>
              </a:solidFill>
              <a:prstDash val="solid"/>
              <a:miter/>
            </a:ln>
          </p:spPr>
        </p:sp>
      </p:grpSp>
      <p:grpSp>
        <p:nvGrpSpPr>
          <p:cNvPr name="Group 20" id="20"/>
          <p:cNvGrpSpPr/>
          <p:nvPr/>
        </p:nvGrpSpPr>
        <p:grpSpPr>
          <a:xfrm rot="0">
            <a:off x="6797945" y="7632354"/>
            <a:ext cx="325488" cy="423272"/>
            <a:chOff x="0" y="0"/>
            <a:chExt cx="433984" cy="564363"/>
          </a:xfrm>
        </p:grpSpPr>
        <p:sp>
          <p:nvSpPr>
            <p:cNvPr name="Freeform 21" id="21"/>
            <p:cNvSpPr/>
            <p:nvPr/>
          </p:nvSpPr>
          <p:spPr>
            <a:xfrm flipH="false" flipV="false" rot="0">
              <a:off x="0" y="0"/>
              <a:ext cx="433984" cy="564357"/>
            </a:xfrm>
            <a:custGeom>
              <a:avLst/>
              <a:gdLst/>
              <a:ahLst/>
              <a:cxnLst/>
              <a:rect r="r" b="b" t="t" l="l"/>
              <a:pathLst>
                <a:path h="564357" w="433984">
                  <a:moveTo>
                    <a:pt x="0" y="0"/>
                  </a:moveTo>
                  <a:lnTo>
                    <a:pt x="433984" y="0"/>
                  </a:lnTo>
                  <a:lnTo>
                    <a:pt x="433984" y="564357"/>
                  </a:lnTo>
                  <a:lnTo>
                    <a:pt x="0" y="564357"/>
                  </a:lnTo>
                  <a:close/>
                </a:path>
              </a:pathLst>
            </a:custGeom>
            <a:blipFill>
              <a:blip r:embed="rId5">
                <a:alphaModFix amt="0"/>
              </a:blip>
              <a:stretch>
                <a:fillRect l="-116848" t="0" r="-116848" b="0"/>
              </a:stretch>
            </a:blipFill>
          </p:spPr>
        </p:sp>
        <p:sp>
          <p:nvSpPr>
            <p:cNvPr name="TextBox 22" id="22"/>
            <p:cNvSpPr txBox="true"/>
            <p:nvPr/>
          </p:nvSpPr>
          <p:spPr>
            <a:xfrm>
              <a:off x="0" y="-9525"/>
              <a:ext cx="433984" cy="573888"/>
            </a:xfrm>
            <a:prstGeom prst="rect">
              <a:avLst/>
            </a:prstGeom>
          </p:spPr>
          <p:txBody>
            <a:bodyPr anchor="ctr" rtlCol="false" tIns="0" lIns="0" bIns="0" rIns="0"/>
            <a:lstStyle/>
            <a:p>
              <a:pPr algn="ctr">
                <a:lnSpc>
                  <a:spcPts val="2999"/>
                </a:lnSpc>
              </a:pPr>
              <a:r>
                <a:rPr lang="en-US" sz="2499" b="true">
                  <a:solidFill>
                    <a:srgbClr val="EBEDF0"/>
                  </a:solidFill>
                  <a:latin typeface="Arimo Bold"/>
                  <a:ea typeface="Arimo Bold"/>
                  <a:cs typeface="Arimo Bold"/>
                  <a:sym typeface="Arimo Bold"/>
                </a:rPr>
                <a:t>2</a:t>
              </a:r>
            </a:p>
          </p:txBody>
        </p:sp>
      </p:grpSp>
      <p:sp>
        <p:nvSpPr>
          <p:cNvPr name="TextBox 23" id="23"/>
          <p:cNvSpPr txBox="true"/>
          <p:nvPr/>
        </p:nvSpPr>
        <p:spPr>
          <a:xfrm rot="0">
            <a:off x="7371007" y="7639050"/>
            <a:ext cx="2713434" cy="381152"/>
          </a:xfrm>
          <a:prstGeom prst="rect">
            <a:avLst/>
          </a:prstGeom>
        </p:spPr>
        <p:txBody>
          <a:bodyPr anchor="t" rtlCol="false" tIns="0" lIns="0" bIns="0" rIns="0">
            <a:spAutoFit/>
          </a:bodyPr>
          <a:lstStyle/>
          <a:p>
            <a:pPr algn="l">
              <a:lnSpc>
                <a:spcPts val="2721"/>
              </a:lnSpc>
            </a:pPr>
            <a:r>
              <a:rPr lang="en-US" sz="2100" b="true">
                <a:solidFill>
                  <a:srgbClr val="EBEDF0"/>
                </a:solidFill>
                <a:latin typeface="Arimo Bold"/>
                <a:ea typeface="Arimo Bold"/>
                <a:cs typeface="Arimo Bold"/>
                <a:sym typeface="Arimo Bold"/>
              </a:rPr>
              <a:t>Verify HTTPS</a:t>
            </a:r>
          </a:p>
        </p:txBody>
      </p:sp>
      <p:sp>
        <p:nvSpPr>
          <p:cNvPr name="TextBox 24" id="24"/>
          <p:cNvSpPr txBox="true"/>
          <p:nvPr/>
        </p:nvSpPr>
        <p:spPr>
          <a:xfrm rot="0">
            <a:off x="7371007" y="8110385"/>
            <a:ext cx="4200077" cy="1255214"/>
          </a:xfrm>
          <a:prstGeom prst="rect">
            <a:avLst/>
          </a:prstGeom>
        </p:spPr>
        <p:txBody>
          <a:bodyPr anchor="t" rtlCol="false" tIns="0" lIns="0" bIns="0" rIns="0">
            <a:spAutoFit/>
          </a:bodyPr>
          <a:lstStyle/>
          <a:p>
            <a:pPr algn="l">
              <a:lnSpc>
                <a:spcPts val="1958"/>
              </a:lnSpc>
            </a:pPr>
            <a:r>
              <a:rPr lang="en-US" sz="1700">
                <a:solidFill>
                  <a:srgbClr val="EBEDF0"/>
                </a:solidFill>
                <a:latin typeface="Arimo"/>
                <a:ea typeface="Arimo"/>
                <a:cs typeface="Arimo"/>
                <a:sym typeface="Arimo"/>
              </a:rPr>
              <a:t>While HTTPS indicates an encrypted connection, it does NOT guarantee a site is legitimate. Phishing sites can and do use HTTPS. Always verify the full domain, not just the padlock icon.</a:t>
            </a:r>
          </a:p>
        </p:txBody>
      </p:sp>
      <p:grpSp>
        <p:nvGrpSpPr>
          <p:cNvPr name="Group 25" id="25"/>
          <p:cNvGrpSpPr/>
          <p:nvPr/>
        </p:nvGrpSpPr>
        <p:grpSpPr>
          <a:xfrm rot="0">
            <a:off x="11769176" y="7590387"/>
            <a:ext cx="507359" cy="507359"/>
            <a:chOff x="0" y="0"/>
            <a:chExt cx="676478" cy="676478"/>
          </a:xfrm>
        </p:grpSpPr>
        <p:sp>
          <p:nvSpPr>
            <p:cNvPr name="Freeform 26" id="26"/>
            <p:cNvSpPr/>
            <p:nvPr/>
          </p:nvSpPr>
          <p:spPr>
            <a:xfrm flipH="false" flipV="false" rot="0">
              <a:off x="0" y="0"/>
              <a:ext cx="676529" cy="676529"/>
            </a:xfrm>
            <a:custGeom>
              <a:avLst/>
              <a:gdLst/>
              <a:ahLst/>
              <a:cxnLst/>
              <a:rect r="r" b="b" t="t" l="l"/>
              <a:pathLst>
                <a:path h="676529" w="676529">
                  <a:moveTo>
                    <a:pt x="0" y="126365"/>
                  </a:moveTo>
                  <a:cubicBezTo>
                    <a:pt x="0" y="56515"/>
                    <a:pt x="56515" y="0"/>
                    <a:pt x="126365" y="0"/>
                  </a:cubicBezTo>
                  <a:lnTo>
                    <a:pt x="550164" y="0"/>
                  </a:lnTo>
                  <a:cubicBezTo>
                    <a:pt x="619887" y="0"/>
                    <a:pt x="676529" y="56515"/>
                    <a:pt x="676529" y="126365"/>
                  </a:cubicBezTo>
                  <a:lnTo>
                    <a:pt x="676529" y="550164"/>
                  </a:lnTo>
                  <a:cubicBezTo>
                    <a:pt x="676529" y="619887"/>
                    <a:pt x="620014" y="676529"/>
                    <a:pt x="550164" y="676529"/>
                  </a:cubicBezTo>
                  <a:lnTo>
                    <a:pt x="126365" y="676529"/>
                  </a:lnTo>
                  <a:cubicBezTo>
                    <a:pt x="56515" y="676529"/>
                    <a:pt x="0" y="619887"/>
                    <a:pt x="0" y="550164"/>
                  </a:cubicBezTo>
                  <a:close/>
                </a:path>
              </a:pathLst>
            </a:custGeom>
            <a:solidFill>
              <a:srgbClr val="101620"/>
            </a:solidFill>
            <a:ln w="19050" cap="sq">
              <a:solidFill>
                <a:srgbClr val="002A80"/>
              </a:solidFill>
              <a:prstDash val="solid"/>
              <a:miter/>
            </a:ln>
          </p:spPr>
        </p:sp>
      </p:grpSp>
      <p:grpSp>
        <p:nvGrpSpPr>
          <p:cNvPr name="Group 27" id="27"/>
          <p:cNvGrpSpPr/>
          <p:nvPr/>
        </p:nvGrpSpPr>
        <p:grpSpPr>
          <a:xfrm rot="0">
            <a:off x="11860035" y="7632354"/>
            <a:ext cx="325488" cy="423272"/>
            <a:chOff x="0" y="0"/>
            <a:chExt cx="433984" cy="564363"/>
          </a:xfrm>
        </p:grpSpPr>
        <p:sp>
          <p:nvSpPr>
            <p:cNvPr name="Freeform 28" id="28"/>
            <p:cNvSpPr/>
            <p:nvPr/>
          </p:nvSpPr>
          <p:spPr>
            <a:xfrm flipH="false" flipV="false" rot="0">
              <a:off x="0" y="0"/>
              <a:ext cx="433984" cy="564357"/>
            </a:xfrm>
            <a:custGeom>
              <a:avLst/>
              <a:gdLst/>
              <a:ahLst/>
              <a:cxnLst/>
              <a:rect r="r" b="b" t="t" l="l"/>
              <a:pathLst>
                <a:path h="564357" w="433984">
                  <a:moveTo>
                    <a:pt x="0" y="0"/>
                  </a:moveTo>
                  <a:lnTo>
                    <a:pt x="433984" y="0"/>
                  </a:lnTo>
                  <a:lnTo>
                    <a:pt x="433984" y="564357"/>
                  </a:lnTo>
                  <a:lnTo>
                    <a:pt x="0" y="564357"/>
                  </a:lnTo>
                  <a:close/>
                </a:path>
              </a:pathLst>
            </a:custGeom>
            <a:blipFill>
              <a:blip r:embed="rId5">
                <a:alphaModFix amt="0"/>
              </a:blip>
              <a:stretch>
                <a:fillRect l="-116848" t="0" r="-116848" b="0"/>
              </a:stretch>
            </a:blipFill>
          </p:spPr>
        </p:sp>
        <p:sp>
          <p:nvSpPr>
            <p:cNvPr name="TextBox 29" id="29"/>
            <p:cNvSpPr txBox="true"/>
            <p:nvPr/>
          </p:nvSpPr>
          <p:spPr>
            <a:xfrm>
              <a:off x="0" y="-9525"/>
              <a:ext cx="433984" cy="573888"/>
            </a:xfrm>
            <a:prstGeom prst="rect">
              <a:avLst/>
            </a:prstGeom>
          </p:spPr>
          <p:txBody>
            <a:bodyPr anchor="ctr" rtlCol="false" tIns="0" lIns="0" bIns="0" rIns="0"/>
            <a:lstStyle/>
            <a:p>
              <a:pPr algn="ctr">
                <a:lnSpc>
                  <a:spcPts val="2999"/>
                </a:lnSpc>
              </a:pPr>
              <a:r>
                <a:rPr lang="en-US" sz="2499" b="true">
                  <a:solidFill>
                    <a:srgbClr val="EBEDF0"/>
                  </a:solidFill>
                  <a:latin typeface="Arimo Bold"/>
                  <a:ea typeface="Arimo Bold"/>
                  <a:cs typeface="Arimo Bold"/>
                  <a:sym typeface="Arimo Bold"/>
                </a:rPr>
                <a:t>3</a:t>
              </a:r>
            </a:p>
          </p:txBody>
        </p:sp>
      </p:grpSp>
      <p:sp>
        <p:nvSpPr>
          <p:cNvPr name="TextBox 30" id="30"/>
          <p:cNvSpPr txBox="true"/>
          <p:nvPr/>
        </p:nvSpPr>
        <p:spPr>
          <a:xfrm rot="0">
            <a:off x="12433106" y="7639050"/>
            <a:ext cx="4197106" cy="381152"/>
          </a:xfrm>
          <a:prstGeom prst="rect">
            <a:avLst/>
          </a:prstGeom>
        </p:spPr>
        <p:txBody>
          <a:bodyPr anchor="t" rtlCol="false" tIns="0" lIns="0" bIns="0" rIns="0">
            <a:spAutoFit/>
          </a:bodyPr>
          <a:lstStyle/>
          <a:p>
            <a:pPr algn="l">
              <a:lnSpc>
                <a:spcPts val="2721"/>
              </a:lnSpc>
            </a:pPr>
            <a:r>
              <a:rPr lang="en-US" sz="2100" b="true">
                <a:solidFill>
                  <a:srgbClr val="EBEDF0"/>
                </a:solidFill>
                <a:latin typeface="Arimo Bold"/>
                <a:ea typeface="Arimo Bold"/>
                <a:cs typeface="Arimo Bold"/>
                <a:sym typeface="Arimo Bold"/>
              </a:rPr>
              <a:t>Look for Domain Spelling Errors</a:t>
            </a:r>
          </a:p>
        </p:txBody>
      </p:sp>
      <p:sp>
        <p:nvSpPr>
          <p:cNvPr name="TextBox 31" id="31"/>
          <p:cNvSpPr txBox="true"/>
          <p:nvPr/>
        </p:nvSpPr>
        <p:spPr>
          <a:xfrm rot="0">
            <a:off x="12433106" y="8110385"/>
            <a:ext cx="4200077" cy="1255214"/>
          </a:xfrm>
          <a:prstGeom prst="rect">
            <a:avLst/>
          </a:prstGeom>
        </p:spPr>
        <p:txBody>
          <a:bodyPr anchor="t" rtlCol="false" tIns="0" lIns="0" bIns="0" rIns="0">
            <a:spAutoFit/>
          </a:bodyPr>
          <a:lstStyle/>
          <a:p>
            <a:pPr algn="l">
              <a:lnSpc>
                <a:spcPts val="1958"/>
              </a:lnSpc>
            </a:pPr>
            <a:r>
              <a:rPr lang="en-US" sz="1700">
                <a:solidFill>
                  <a:srgbClr val="EBEDF0"/>
                </a:solidFill>
                <a:latin typeface="Arimo"/>
                <a:ea typeface="Arimo"/>
                <a:cs typeface="Arimo"/>
                <a:sym typeface="Arimo"/>
              </a:rPr>
              <a:t>Watch for subtle misspellings in the domain name such as "arnazon.com" instead of "amazon.com" or "micros0ft.com" instead of "microsoft.com".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914695" y="648300"/>
            <a:ext cx="10662495" cy="925706"/>
          </a:xfrm>
          <a:prstGeom prst="rect">
            <a:avLst/>
          </a:prstGeom>
        </p:spPr>
        <p:txBody>
          <a:bodyPr anchor="t" rtlCol="false" tIns="0" lIns="0" bIns="0" rIns="0">
            <a:spAutoFit/>
          </a:bodyPr>
          <a:lstStyle/>
          <a:p>
            <a:pPr algn="l">
              <a:lnSpc>
                <a:spcPts val="6609"/>
              </a:lnSpc>
            </a:pPr>
            <a:r>
              <a:rPr lang="en-US" sz="5100" b="true">
                <a:solidFill>
                  <a:srgbClr val="F2F5FA"/>
                </a:solidFill>
                <a:latin typeface="Arimo Bold"/>
                <a:ea typeface="Arimo Bold"/>
                <a:cs typeface="Arimo Bold"/>
                <a:sym typeface="Arimo Bold"/>
              </a:rPr>
              <a:t>Social Engineering Techniques</a:t>
            </a:r>
          </a:p>
        </p:txBody>
      </p:sp>
      <p:sp>
        <p:nvSpPr>
          <p:cNvPr name="TextBox 7" id="7"/>
          <p:cNvSpPr txBox="true"/>
          <p:nvPr/>
        </p:nvSpPr>
        <p:spPr>
          <a:xfrm rot="0">
            <a:off x="914695" y="2046389"/>
            <a:ext cx="16458600" cy="662283"/>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Phishing attacks succeed not because of technical exploits, but because they manipulate human psychology. Attackers are skilled at exploiting emotions and cognitive biases.</a:t>
            </a:r>
          </a:p>
        </p:txBody>
      </p:sp>
      <p:grpSp>
        <p:nvGrpSpPr>
          <p:cNvPr name="Group 8" id="8"/>
          <p:cNvGrpSpPr/>
          <p:nvPr/>
        </p:nvGrpSpPr>
        <p:grpSpPr>
          <a:xfrm rot="0">
            <a:off x="900408" y="2965399"/>
            <a:ext cx="8137331" cy="2483053"/>
            <a:chOff x="0" y="0"/>
            <a:chExt cx="10849775" cy="3310738"/>
          </a:xfrm>
        </p:grpSpPr>
        <p:sp>
          <p:nvSpPr>
            <p:cNvPr name="Freeform 9" id="9"/>
            <p:cNvSpPr/>
            <p:nvPr/>
          </p:nvSpPr>
          <p:spPr>
            <a:xfrm flipH="false" flipV="false" rot="0">
              <a:off x="0" y="0"/>
              <a:ext cx="10849737" cy="3310763"/>
            </a:xfrm>
            <a:custGeom>
              <a:avLst/>
              <a:gdLst/>
              <a:ahLst/>
              <a:cxnLst/>
              <a:rect r="r" b="b" t="t" l="l"/>
              <a:pathLst>
                <a:path h="3310763" w="10849737">
                  <a:moveTo>
                    <a:pt x="0" y="148082"/>
                  </a:moveTo>
                  <a:cubicBezTo>
                    <a:pt x="0" y="66294"/>
                    <a:pt x="66294" y="0"/>
                    <a:pt x="148082" y="0"/>
                  </a:cubicBezTo>
                  <a:lnTo>
                    <a:pt x="10701655" y="0"/>
                  </a:lnTo>
                  <a:cubicBezTo>
                    <a:pt x="10783443" y="0"/>
                    <a:pt x="10849737" y="66294"/>
                    <a:pt x="10849737" y="148082"/>
                  </a:cubicBezTo>
                  <a:lnTo>
                    <a:pt x="10849737" y="3162681"/>
                  </a:lnTo>
                  <a:cubicBezTo>
                    <a:pt x="10849737" y="3244469"/>
                    <a:pt x="10783443" y="3310763"/>
                    <a:pt x="10701655" y="3310763"/>
                  </a:cubicBezTo>
                  <a:lnTo>
                    <a:pt x="148082" y="3310763"/>
                  </a:lnTo>
                  <a:cubicBezTo>
                    <a:pt x="66294" y="3310763"/>
                    <a:pt x="0" y="3244469"/>
                    <a:pt x="0" y="3162681"/>
                  </a:cubicBezTo>
                  <a:close/>
                </a:path>
              </a:pathLst>
            </a:custGeom>
            <a:solidFill>
              <a:srgbClr val="101620"/>
            </a:solidFill>
            <a:ln w="28576" cap="sq">
              <a:solidFill>
                <a:srgbClr val="002A80"/>
              </a:solidFill>
              <a:prstDash val="solid"/>
              <a:miter/>
            </a:ln>
          </p:spPr>
        </p:sp>
      </p:grpSp>
      <p:sp>
        <p:nvSpPr>
          <p:cNvPr name="TextBox 10" id="10"/>
          <p:cNvSpPr txBox="true"/>
          <p:nvPr/>
        </p:nvSpPr>
        <p:spPr>
          <a:xfrm rot="0">
            <a:off x="1204617" y="3231509"/>
            <a:ext cx="3267227"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Impersonation</a:t>
            </a:r>
          </a:p>
        </p:txBody>
      </p:sp>
      <p:sp>
        <p:nvSpPr>
          <p:cNvPr name="TextBox 11" id="11"/>
          <p:cNvSpPr txBox="true"/>
          <p:nvPr/>
        </p:nvSpPr>
        <p:spPr>
          <a:xfrm rot="0">
            <a:off x="1204617" y="3829202"/>
            <a:ext cx="7528922" cy="1315041"/>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Attackers pose as trusted figures — your bank, your IT department, a colleague, or even your CEO. The more convincing the persona, the more likely you are to comply with their requests.</a:t>
            </a:r>
          </a:p>
        </p:txBody>
      </p:sp>
      <p:grpSp>
        <p:nvGrpSpPr>
          <p:cNvPr name="Group 12" id="12"/>
          <p:cNvGrpSpPr/>
          <p:nvPr/>
        </p:nvGrpSpPr>
        <p:grpSpPr>
          <a:xfrm rot="0">
            <a:off x="9250118" y="2965399"/>
            <a:ext cx="8137474" cy="2483053"/>
            <a:chOff x="0" y="0"/>
            <a:chExt cx="10849966" cy="3310738"/>
          </a:xfrm>
        </p:grpSpPr>
        <p:sp>
          <p:nvSpPr>
            <p:cNvPr name="Freeform 13" id="13"/>
            <p:cNvSpPr/>
            <p:nvPr/>
          </p:nvSpPr>
          <p:spPr>
            <a:xfrm flipH="false" flipV="false" rot="0">
              <a:off x="0" y="0"/>
              <a:ext cx="10849990" cy="3310763"/>
            </a:xfrm>
            <a:custGeom>
              <a:avLst/>
              <a:gdLst/>
              <a:ahLst/>
              <a:cxnLst/>
              <a:rect r="r" b="b" t="t" l="l"/>
              <a:pathLst>
                <a:path h="3310763" w="10849990">
                  <a:moveTo>
                    <a:pt x="0" y="148082"/>
                  </a:moveTo>
                  <a:cubicBezTo>
                    <a:pt x="0" y="66294"/>
                    <a:pt x="66294" y="0"/>
                    <a:pt x="148082" y="0"/>
                  </a:cubicBezTo>
                  <a:lnTo>
                    <a:pt x="10701909" y="0"/>
                  </a:lnTo>
                  <a:cubicBezTo>
                    <a:pt x="10783697" y="0"/>
                    <a:pt x="10849990" y="66294"/>
                    <a:pt x="10849990" y="148082"/>
                  </a:cubicBezTo>
                  <a:lnTo>
                    <a:pt x="10849990" y="3162681"/>
                  </a:lnTo>
                  <a:cubicBezTo>
                    <a:pt x="10849990" y="3244469"/>
                    <a:pt x="10783697" y="3310763"/>
                    <a:pt x="10701909" y="3310763"/>
                  </a:cubicBezTo>
                  <a:lnTo>
                    <a:pt x="148082" y="3310763"/>
                  </a:lnTo>
                  <a:cubicBezTo>
                    <a:pt x="66294" y="3310763"/>
                    <a:pt x="0" y="3244469"/>
                    <a:pt x="0" y="3162681"/>
                  </a:cubicBezTo>
                  <a:close/>
                </a:path>
              </a:pathLst>
            </a:custGeom>
            <a:solidFill>
              <a:srgbClr val="101620"/>
            </a:solidFill>
            <a:ln w="28576" cap="sq">
              <a:solidFill>
                <a:srgbClr val="002A80"/>
              </a:solidFill>
              <a:prstDash val="solid"/>
              <a:miter/>
            </a:ln>
          </p:spPr>
        </p:sp>
      </p:grpSp>
      <p:sp>
        <p:nvSpPr>
          <p:cNvPr name="TextBox 14" id="14"/>
          <p:cNvSpPr txBox="true"/>
          <p:nvPr/>
        </p:nvSpPr>
        <p:spPr>
          <a:xfrm rot="0">
            <a:off x="9554318" y="3231509"/>
            <a:ext cx="3267227"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Fear Tactics</a:t>
            </a:r>
          </a:p>
        </p:txBody>
      </p:sp>
      <p:sp>
        <p:nvSpPr>
          <p:cNvPr name="TextBox 15" id="15"/>
          <p:cNvSpPr txBox="true"/>
          <p:nvPr/>
        </p:nvSpPr>
        <p:spPr>
          <a:xfrm rot="0">
            <a:off x="9554318" y="3829202"/>
            <a:ext cx="7529065" cy="988666"/>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Messages that threaten account suspension, legal action, or financial penalties are designed to override rational thinking and push victims into hasty decisions.</a:t>
            </a:r>
          </a:p>
        </p:txBody>
      </p:sp>
      <p:grpSp>
        <p:nvGrpSpPr>
          <p:cNvPr name="Group 16" id="16"/>
          <p:cNvGrpSpPr/>
          <p:nvPr/>
        </p:nvGrpSpPr>
        <p:grpSpPr>
          <a:xfrm rot="0">
            <a:off x="900408" y="5660822"/>
            <a:ext cx="8137331" cy="2156670"/>
            <a:chOff x="0" y="0"/>
            <a:chExt cx="10849775" cy="2875559"/>
          </a:xfrm>
        </p:grpSpPr>
        <p:sp>
          <p:nvSpPr>
            <p:cNvPr name="Freeform 17" id="17"/>
            <p:cNvSpPr/>
            <p:nvPr/>
          </p:nvSpPr>
          <p:spPr>
            <a:xfrm flipH="false" flipV="false" rot="0">
              <a:off x="0" y="0"/>
              <a:ext cx="10849737" cy="2875534"/>
            </a:xfrm>
            <a:custGeom>
              <a:avLst/>
              <a:gdLst/>
              <a:ahLst/>
              <a:cxnLst/>
              <a:rect r="r" b="b" t="t" l="l"/>
              <a:pathLst>
                <a:path h="2875534" w="10849737">
                  <a:moveTo>
                    <a:pt x="0" y="148336"/>
                  </a:moveTo>
                  <a:cubicBezTo>
                    <a:pt x="0" y="66421"/>
                    <a:pt x="66421" y="0"/>
                    <a:pt x="148336" y="0"/>
                  </a:cubicBezTo>
                  <a:lnTo>
                    <a:pt x="10701401" y="0"/>
                  </a:lnTo>
                  <a:cubicBezTo>
                    <a:pt x="10783316" y="0"/>
                    <a:pt x="10849737" y="66421"/>
                    <a:pt x="10849737" y="148336"/>
                  </a:cubicBezTo>
                  <a:lnTo>
                    <a:pt x="10849737" y="2727198"/>
                  </a:lnTo>
                  <a:cubicBezTo>
                    <a:pt x="10849737" y="2809113"/>
                    <a:pt x="10783316" y="2875534"/>
                    <a:pt x="10701401" y="2875534"/>
                  </a:cubicBezTo>
                  <a:lnTo>
                    <a:pt x="148336" y="2875534"/>
                  </a:lnTo>
                  <a:cubicBezTo>
                    <a:pt x="66421" y="2875534"/>
                    <a:pt x="0" y="2809113"/>
                    <a:pt x="0" y="2727198"/>
                  </a:cubicBezTo>
                  <a:close/>
                </a:path>
              </a:pathLst>
            </a:custGeom>
            <a:solidFill>
              <a:srgbClr val="101620"/>
            </a:solidFill>
            <a:ln w="28576" cap="sq">
              <a:solidFill>
                <a:srgbClr val="002A80"/>
              </a:solidFill>
              <a:prstDash val="solid"/>
              <a:miter/>
            </a:ln>
          </p:spPr>
        </p:sp>
      </p:grpSp>
      <p:sp>
        <p:nvSpPr>
          <p:cNvPr name="TextBox 18" id="18"/>
          <p:cNvSpPr txBox="true"/>
          <p:nvPr/>
        </p:nvSpPr>
        <p:spPr>
          <a:xfrm rot="0">
            <a:off x="1204617" y="5926931"/>
            <a:ext cx="3267227"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Urgency</a:t>
            </a:r>
          </a:p>
        </p:txBody>
      </p:sp>
      <p:sp>
        <p:nvSpPr>
          <p:cNvPr name="TextBox 19" id="19"/>
          <p:cNvSpPr txBox="true"/>
          <p:nvPr/>
        </p:nvSpPr>
        <p:spPr>
          <a:xfrm rot="0">
            <a:off x="1204617" y="6524625"/>
            <a:ext cx="7528922" cy="988666"/>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Creating artificial time pressure ("You have 2 hours to respond!") prevents victims from pausing to verify the legitimacy of the request or consulting with others.</a:t>
            </a:r>
          </a:p>
        </p:txBody>
      </p:sp>
      <p:grpSp>
        <p:nvGrpSpPr>
          <p:cNvPr name="Group 20" id="20"/>
          <p:cNvGrpSpPr/>
          <p:nvPr/>
        </p:nvGrpSpPr>
        <p:grpSpPr>
          <a:xfrm rot="0">
            <a:off x="9250118" y="5660822"/>
            <a:ext cx="8137474" cy="2156670"/>
            <a:chOff x="0" y="0"/>
            <a:chExt cx="10849966" cy="2875559"/>
          </a:xfrm>
        </p:grpSpPr>
        <p:sp>
          <p:nvSpPr>
            <p:cNvPr name="Freeform 21" id="21"/>
            <p:cNvSpPr/>
            <p:nvPr/>
          </p:nvSpPr>
          <p:spPr>
            <a:xfrm flipH="false" flipV="false" rot="0">
              <a:off x="0" y="0"/>
              <a:ext cx="10849991" cy="2875534"/>
            </a:xfrm>
            <a:custGeom>
              <a:avLst/>
              <a:gdLst/>
              <a:ahLst/>
              <a:cxnLst/>
              <a:rect r="r" b="b" t="t" l="l"/>
              <a:pathLst>
                <a:path h="2875534" w="10849991">
                  <a:moveTo>
                    <a:pt x="0" y="148336"/>
                  </a:moveTo>
                  <a:cubicBezTo>
                    <a:pt x="0" y="66421"/>
                    <a:pt x="66421" y="0"/>
                    <a:pt x="148336" y="0"/>
                  </a:cubicBezTo>
                  <a:lnTo>
                    <a:pt x="10701655" y="0"/>
                  </a:lnTo>
                  <a:cubicBezTo>
                    <a:pt x="10783570" y="0"/>
                    <a:pt x="10849991" y="66421"/>
                    <a:pt x="10849991" y="148336"/>
                  </a:cubicBezTo>
                  <a:lnTo>
                    <a:pt x="10849991" y="2727198"/>
                  </a:lnTo>
                  <a:cubicBezTo>
                    <a:pt x="10849991" y="2809113"/>
                    <a:pt x="10783570" y="2875534"/>
                    <a:pt x="10701655" y="2875534"/>
                  </a:cubicBezTo>
                  <a:lnTo>
                    <a:pt x="148336" y="2875534"/>
                  </a:lnTo>
                  <a:cubicBezTo>
                    <a:pt x="66421" y="2875534"/>
                    <a:pt x="0" y="2809113"/>
                    <a:pt x="0" y="2727198"/>
                  </a:cubicBezTo>
                  <a:close/>
                </a:path>
              </a:pathLst>
            </a:custGeom>
            <a:solidFill>
              <a:srgbClr val="101620"/>
            </a:solidFill>
            <a:ln w="28576" cap="sq">
              <a:solidFill>
                <a:srgbClr val="002A80"/>
              </a:solidFill>
              <a:prstDash val="solid"/>
              <a:miter/>
            </a:ln>
          </p:spPr>
        </p:sp>
      </p:grpSp>
      <p:sp>
        <p:nvSpPr>
          <p:cNvPr name="TextBox 22" id="22"/>
          <p:cNvSpPr txBox="true"/>
          <p:nvPr/>
        </p:nvSpPr>
        <p:spPr>
          <a:xfrm rot="0">
            <a:off x="9554318" y="5926931"/>
            <a:ext cx="3612956" cy="462705"/>
          </a:xfrm>
          <a:prstGeom prst="rect">
            <a:avLst/>
          </a:prstGeom>
        </p:spPr>
        <p:txBody>
          <a:bodyPr anchor="t" rtlCol="false" tIns="0" lIns="0" bIns="0" rIns="0">
            <a:spAutoFit/>
          </a:bodyPr>
          <a:lstStyle/>
          <a:p>
            <a:pPr algn="l">
              <a:lnSpc>
                <a:spcPts val="3240"/>
              </a:lnSpc>
            </a:pPr>
            <a:r>
              <a:rPr lang="en-US" sz="2499" b="true">
                <a:solidFill>
                  <a:srgbClr val="000000"/>
                </a:solidFill>
                <a:latin typeface="Arimo Bold"/>
                <a:ea typeface="Arimo Bold"/>
                <a:cs typeface="Arimo Bold"/>
                <a:sym typeface="Arimo Bold"/>
              </a:rPr>
              <a:t>🎁</a:t>
            </a:r>
            <a:r>
              <a:rPr lang="en-US" sz="2499" b="true">
                <a:solidFill>
                  <a:srgbClr val="EBEDF0"/>
                </a:solidFill>
                <a:latin typeface="Arimo Bold"/>
                <a:ea typeface="Arimo Bold"/>
                <a:cs typeface="Arimo Bold"/>
                <a:sym typeface="Arimo Bold"/>
              </a:rPr>
              <a:t> Rewards and Prizes</a:t>
            </a:r>
          </a:p>
        </p:txBody>
      </p:sp>
      <p:sp>
        <p:nvSpPr>
          <p:cNvPr name="TextBox 23" id="23"/>
          <p:cNvSpPr txBox="true"/>
          <p:nvPr/>
        </p:nvSpPr>
        <p:spPr>
          <a:xfrm rot="0">
            <a:off x="9554318" y="6524625"/>
            <a:ext cx="7529065" cy="988666"/>
          </a:xfrm>
          <a:prstGeom prst="rect">
            <a:avLst/>
          </a:prstGeom>
        </p:spPr>
        <p:txBody>
          <a:bodyPr anchor="t" rtlCol="false" tIns="0" lIns="0" bIns="0" rIns="0">
            <a:spAutoFit/>
          </a:bodyPr>
          <a:lstStyle/>
          <a:p>
            <a:pPr algn="l">
              <a:lnSpc>
                <a:spcPts val="2496"/>
              </a:lnSpc>
            </a:pPr>
            <a:r>
              <a:rPr lang="en-US" sz="2000">
                <a:solidFill>
                  <a:srgbClr val="EBEDF0"/>
                </a:solidFill>
                <a:latin typeface="Arimo"/>
                <a:ea typeface="Arimo"/>
                <a:cs typeface="Arimo"/>
                <a:sym typeface="Arimo"/>
              </a:rPr>
              <a:t>Promises of gift cards, lottery winnings, or exclusive offers exploit greed and excitement. If it sounds too good to be true, it almost certainly is a scam.</a:t>
            </a:r>
          </a:p>
        </p:txBody>
      </p:sp>
      <p:grpSp>
        <p:nvGrpSpPr>
          <p:cNvPr name="Group 24" id="24"/>
          <p:cNvGrpSpPr/>
          <p:nvPr/>
        </p:nvGrpSpPr>
        <p:grpSpPr>
          <a:xfrm rot="0">
            <a:off x="914695" y="8074228"/>
            <a:ext cx="16458600" cy="1217114"/>
            <a:chOff x="0" y="0"/>
            <a:chExt cx="21944800" cy="1622819"/>
          </a:xfrm>
        </p:grpSpPr>
        <p:sp>
          <p:nvSpPr>
            <p:cNvPr name="Freeform 25" id="25"/>
            <p:cNvSpPr/>
            <p:nvPr/>
          </p:nvSpPr>
          <p:spPr>
            <a:xfrm flipH="false" flipV="false" rot="0">
              <a:off x="0" y="0"/>
              <a:ext cx="21944839" cy="1622933"/>
            </a:xfrm>
            <a:custGeom>
              <a:avLst/>
              <a:gdLst/>
              <a:ahLst/>
              <a:cxnLst/>
              <a:rect r="r" b="b" t="t" l="l"/>
              <a:pathLst>
                <a:path h="1622933" w="21944839">
                  <a:moveTo>
                    <a:pt x="0" y="146431"/>
                  </a:moveTo>
                  <a:cubicBezTo>
                    <a:pt x="0" y="65532"/>
                    <a:pt x="65532" y="0"/>
                    <a:pt x="146431" y="0"/>
                  </a:cubicBezTo>
                  <a:lnTo>
                    <a:pt x="21798407" y="0"/>
                  </a:lnTo>
                  <a:cubicBezTo>
                    <a:pt x="21879306" y="0"/>
                    <a:pt x="21944839" y="65532"/>
                    <a:pt x="21944839" y="146431"/>
                  </a:cubicBezTo>
                  <a:lnTo>
                    <a:pt x="21944839" y="1476502"/>
                  </a:lnTo>
                  <a:cubicBezTo>
                    <a:pt x="21944839" y="1557401"/>
                    <a:pt x="21879306" y="1622933"/>
                    <a:pt x="21798407" y="1622933"/>
                  </a:cubicBezTo>
                  <a:lnTo>
                    <a:pt x="146431" y="1622933"/>
                  </a:lnTo>
                  <a:cubicBezTo>
                    <a:pt x="65532" y="1622806"/>
                    <a:pt x="0" y="1557274"/>
                    <a:pt x="0" y="1476502"/>
                  </a:cubicBezTo>
                  <a:close/>
                </a:path>
              </a:pathLst>
            </a:custGeom>
            <a:solidFill>
              <a:srgbClr val="022349"/>
            </a:solidFill>
          </p:spPr>
        </p:sp>
      </p:grpSp>
      <p:grpSp>
        <p:nvGrpSpPr>
          <p:cNvPr name="Group 26" id="26"/>
          <p:cNvGrpSpPr/>
          <p:nvPr/>
        </p:nvGrpSpPr>
        <p:grpSpPr>
          <a:xfrm rot="0">
            <a:off x="1176042" y="8410280"/>
            <a:ext cx="326679" cy="261337"/>
            <a:chOff x="0" y="0"/>
            <a:chExt cx="435572" cy="348450"/>
          </a:xfrm>
        </p:grpSpPr>
        <p:sp>
          <p:nvSpPr>
            <p:cNvPr name="Freeform 27" id="27" descr="preencoded.png"/>
            <p:cNvSpPr/>
            <p:nvPr/>
          </p:nvSpPr>
          <p:spPr>
            <a:xfrm flipH="false" flipV="false" rot="0">
              <a:off x="0" y="0"/>
              <a:ext cx="435610" cy="348488"/>
            </a:xfrm>
            <a:custGeom>
              <a:avLst/>
              <a:gdLst/>
              <a:ahLst/>
              <a:cxnLst/>
              <a:rect r="r" b="b" t="t" l="l"/>
              <a:pathLst>
                <a:path h="348488" w="435610">
                  <a:moveTo>
                    <a:pt x="0" y="0"/>
                  </a:moveTo>
                  <a:lnTo>
                    <a:pt x="435610" y="0"/>
                  </a:lnTo>
                  <a:lnTo>
                    <a:pt x="435610" y="348488"/>
                  </a:lnTo>
                  <a:lnTo>
                    <a:pt x="0" y="348488"/>
                  </a:lnTo>
                  <a:lnTo>
                    <a:pt x="0" y="0"/>
                  </a:lnTo>
                  <a:close/>
                </a:path>
              </a:pathLst>
            </a:custGeom>
            <a:blipFill>
              <a:blip r:embed="rId4"/>
              <a:stretch>
                <a:fillRect l="-370" t="0" r="-361" b="10"/>
              </a:stretch>
            </a:blipFill>
          </p:spPr>
        </p:sp>
      </p:grpSp>
      <p:sp>
        <p:nvSpPr>
          <p:cNvPr name="TextBox 28" id="28"/>
          <p:cNvSpPr txBox="true"/>
          <p:nvPr/>
        </p:nvSpPr>
        <p:spPr>
          <a:xfrm rot="0">
            <a:off x="1764059" y="8346881"/>
            <a:ext cx="15347899" cy="662283"/>
          </a:xfrm>
          <a:prstGeom prst="rect">
            <a:avLst/>
          </a:prstGeom>
        </p:spPr>
        <p:txBody>
          <a:bodyPr anchor="t" rtlCol="false" tIns="0" lIns="0" bIns="0" rIns="0">
            <a:spAutoFit/>
          </a:bodyPr>
          <a:lstStyle/>
          <a:p>
            <a:pPr algn="l">
              <a:lnSpc>
                <a:spcPts val="2496"/>
              </a:lnSpc>
            </a:pPr>
            <a:r>
              <a:rPr lang="en-US" sz="2000">
                <a:solidFill>
                  <a:srgbClr val="FFFFFF"/>
                </a:solidFill>
                <a:latin typeface="Arimo"/>
                <a:ea typeface="Arimo"/>
                <a:cs typeface="Arimo"/>
                <a:sym typeface="Arimo"/>
              </a:rPr>
              <a:t>The best defense against social engineering is to slow down, verify independently, and never let emotion drive your security decisions.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992238" y="887311"/>
            <a:ext cx="11498456" cy="1007116"/>
          </a:xfrm>
          <a:prstGeom prst="rect">
            <a:avLst/>
          </a:prstGeom>
        </p:spPr>
        <p:txBody>
          <a:bodyPr anchor="t" rtlCol="false" tIns="0" lIns="0" bIns="0" rIns="0">
            <a:spAutoFit/>
          </a:bodyPr>
          <a:lstStyle/>
          <a:p>
            <a:pPr algn="l">
              <a:lnSpc>
                <a:spcPts val="7128"/>
              </a:lnSpc>
            </a:pPr>
            <a:r>
              <a:rPr lang="en-US" sz="5500" b="true">
                <a:solidFill>
                  <a:srgbClr val="F2F5FA"/>
                </a:solidFill>
                <a:latin typeface="Arimo Bold"/>
                <a:ea typeface="Arimo Bold"/>
                <a:cs typeface="Arimo Bold"/>
                <a:sym typeface="Arimo Bold"/>
              </a:rPr>
              <a:t>Real-World Phishing Examples</a:t>
            </a:r>
          </a:p>
        </p:txBody>
      </p:sp>
      <p:sp>
        <p:nvSpPr>
          <p:cNvPr name="TextBox 7" id="7"/>
          <p:cNvSpPr txBox="true"/>
          <p:nvPr/>
        </p:nvSpPr>
        <p:spPr>
          <a:xfrm rot="0">
            <a:off x="992238" y="2423370"/>
            <a:ext cx="16303523" cy="775097"/>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Phishing attacks happen across every industry and platform. These real-world scenarios illustrate how attackers exploit familiar contexts to deceive victims.</a:t>
            </a:r>
          </a:p>
        </p:txBody>
      </p:sp>
      <p:grpSp>
        <p:nvGrpSpPr>
          <p:cNvPr name="Group 8" id="8"/>
          <p:cNvGrpSpPr/>
          <p:nvPr/>
        </p:nvGrpSpPr>
        <p:grpSpPr>
          <a:xfrm rot="0">
            <a:off x="992238" y="3517402"/>
            <a:ext cx="3014958" cy="1863328"/>
            <a:chOff x="0" y="0"/>
            <a:chExt cx="4019944" cy="2484438"/>
          </a:xfrm>
        </p:grpSpPr>
        <p:sp>
          <p:nvSpPr>
            <p:cNvPr name="Freeform 9" id="9" descr="preencoded.png"/>
            <p:cNvSpPr/>
            <p:nvPr/>
          </p:nvSpPr>
          <p:spPr>
            <a:xfrm flipH="false" flipV="false" rot="0">
              <a:off x="0" y="0"/>
              <a:ext cx="4019931" cy="2484374"/>
            </a:xfrm>
            <a:custGeom>
              <a:avLst/>
              <a:gdLst/>
              <a:ahLst/>
              <a:cxnLst/>
              <a:rect r="r" b="b" t="t" l="l"/>
              <a:pathLst>
                <a:path h="2484374" w="4019931">
                  <a:moveTo>
                    <a:pt x="0" y="0"/>
                  </a:moveTo>
                  <a:lnTo>
                    <a:pt x="4019931" y="0"/>
                  </a:lnTo>
                  <a:lnTo>
                    <a:pt x="4019931" y="2484374"/>
                  </a:lnTo>
                  <a:lnTo>
                    <a:pt x="0" y="2484374"/>
                  </a:lnTo>
                  <a:lnTo>
                    <a:pt x="0" y="0"/>
                  </a:lnTo>
                  <a:close/>
                </a:path>
              </a:pathLst>
            </a:custGeom>
            <a:blipFill>
              <a:blip r:embed="rId4"/>
              <a:stretch>
                <a:fillRect l="0" t="-21" r="0" b="-24"/>
              </a:stretch>
            </a:blipFill>
          </p:spPr>
        </p:sp>
      </p:grpSp>
      <p:sp>
        <p:nvSpPr>
          <p:cNvPr name="TextBox 10" id="10"/>
          <p:cNvSpPr txBox="true"/>
          <p:nvPr/>
        </p:nvSpPr>
        <p:spPr>
          <a:xfrm rot="0">
            <a:off x="992238" y="5696988"/>
            <a:ext cx="3544043" cy="498719"/>
          </a:xfrm>
          <a:prstGeom prst="rect">
            <a:avLst/>
          </a:prstGeom>
        </p:spPr>
        <p:txBody>
          <a:bodyPr anchor="t" rtlCol="false" tIns="0" lIns="0" bIns="0" rIns="0">
            <a:spAutoFit/>
          </a:bodyPr>
          <a:lstStyle/>
          <a:p>
            <a:pPr algn="l">
              <a:lnSpc>
                <a:spcPts val="3499"/>
              </a:lnSpc>
            </a:pPr>
            <a:r>
              <a:rPr lang="en-US" sz="2700" b="true">
                <a:solidFill>
                  <a:srgbClr val="EBEDF0"/>
                </a:solidFill>
                <a:latin typeface="Arimo Bold"/>
                <a:ea typeface="Arimo Bold"/>
                <a:cs typeface="Arimo Bold"/>
                <a:sym typeface="Arimo Bold"/>
              </a:rPr>
              <a:t>Banking Scams</a:t>
            </a:r>
          </a:p>
        </p:txBody>
      </p:sp>
      <p:sp>
        <p:nvSpPr>
          <p:cNvPr name="TextBox 11" id="11"/>
          <p:cNvSpPr txBox="true"/>
          <p:nvPr/>
        </p:nvSpPr>
        <p:spPr>
          <a:xfrm rot="0">
            <a:off x="992238" y="6327724"/>
            <a:ext cx="5198269" cy="2617594"/>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Victims receive emails appearing to be from their bank, warning of suspicious activity and urging them to "verify" their account by clicking a link. The fake login page captures their credentials, giving attackers full access to their accounts.</a:t>
            </a:r>
          </a:p>
        </p:txBody>
      </p:sp>
      <p:grpSp>
        <p:nvGrpSpPr>
          <p:cNvPr name="Group 12" id="12"/>
          <p:cNvGrpSpPr/>
          <p:nvPr/>
        </p:nvGrpSpPr>
        <p:grpSpPr>
          <a:xfrm rot="0">
            <a:off x="6544866" y="3517402"/>
            <a:ext cx="3014958" cy="1863328"/>
            <a:chOff x="0" y="0"/>
            <a:chExt cx="4019944" cy="2484438"/>
          </a:xfrm>
        </p:grpSpPr>
        <p:sp>
          <p:nvSpPr>
            <p:cNvPr name="Freeform 13" id="13" descr="preencoded.png"/>
            <p:cNvSpPr/>
            <p:nvPr/>
          </p:nvSpPr>
          <p:spPr>
            <a:xfrm flipH="false" flipV="false" rot="0">
              <a:off x="0" y="0"/>
              <a:ext cx="4019931" cy="2484374"/>
            </a:xfrm>
            <a:custGeom>
              <a:avLst/>
              <a:gdLst/>
              <a:ahLst/>
              <a:cxnLst/>
              <a:rect r="r" b="b" t="t" l="l"/>
              <a:pathLst>
                <a:path h="2484374" w="4019931">
                  <a:moveTo>
                    <a:pt x="0" y="0"/>
                  </a:moveTo>
                  <a:lnTo>
                    <a:pt x="4019931" y="0"/>
                  </a:lnTo>
                  <a:lnTo>
                    <a:pt x="4019931" y="2484374"/>
                  </a:lnTo>
                  <a:lnTo>
                    <a:pt x="0" y="2484374"/>
                  </a:lnTo>
                  <a:lnTo>
                    <a:pt x="0" y="0"/>
                  </a:lnTo>
                  <a:close/>
                </a:path>
              </a:pathLst>
            </a:custGeom>
            <a:blipFill>
              <a:blip r:embed="rId5"/>
              <a:stretch>
                <a:fillRect l="0" t="-21" r="0" b="-24"/>
              </a:stretch>
            </a:blipFill>
          </p:spPr>
        </p:sp>
      </p:grpSp>
      <p:sp>
        <p:nvSpPr>
          <p:cNvPr name="TextBox 14" id="14"/>
          <p:cNvSpPr txBox="true"/>
          <p:nvPr/>
        </p:nvSpPr>
        <p:spPr>
          <a:xfrm rot="0">
            <a:off x="6544866" y="5696988"/>
            <a:ext cx="3544043" cy="498719"/>
          </a:xfrm>
          <a:prstGeom prst="rect">
            <a:avLst/>
          </a:prstGeom>
        </p:spPr>
        <p:txBody>
          <a:bodyPr anchor="t" rtlCol="false" tIns="0" lIns="0" bIns="0" rIns="0">
            <a:spAutoFit/>
          </a:bodyPr>
          <a:lstStyle/>
          <a:p>
            <a:pPr algn="l">
              <a:lnSpc>
                <a:spcPts val="3499"/>
              </a:lnSpc>
            </a:pPr>
            <a:r>
              <a:rPr lang="en-US" sz="2700" b="true">
                <a:solidFill>
                  <a:srgbClr val="EBEDF0"/>
                </a:solidFill>
                <a:latin typeface="Arimo Bold"/>
                <a:ea typeface="Arimo Bold"/>
                <a:cs typeface="Arimo Bold"/>
                <a:sym typeface="Arimo Bold"/>
              </a:rPr>
              <a:t>Social Media Scams</a:t>
            </a:r>
          </a:p>
        </p:txBody>
      </p:sp>
      <p:sp>
        <p:nvSpPr>
          <p:cNvPr name="TextBox 15" id="15"/>
          <p:cNvSpPr txBox="true"/>
          <p:nvPr/>
        </p:nvSpPr>
        <p:spPr>
          <a:xfrm rot="0">
            <a:off x="6544866" y="6327724"/>
            <a:ext cx="5198269" cy="2986088"/>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Fake notifications from platforms like Facebook, Instagram, or LinkedIn claim that your account has been compromised or that you've been tagged in a post. Clicking the link leads to a credential-harvesting page designed to look identical to the real platform.</a:t>
            </a:r>
          </a:p>
        </p:txBody>
      </p:sp>
      <p:grpSp>
        <p:nvGrpSpPr>
          <p:cNvPr name="Group 16" id="16"/>
          <p:cNvGrpSpPr/>
          <p:nvPr/>
        </p:nvGrpSpPr>
        <p:grpSpPr>
          <a:xfrm rot="0">
            <a:off x="12097493" y="3517402"/>
            <a:ext cx="3014958" cy="1863328"/>
            <a:chOff x="0" y="0"/>
            <a:chExt cx="4019944" cy="2484438"/>
          </a:xfrm>
        </p:grpSpPr>
        <p:sp>
          <p:nvSpPr>
            <p:cNvPr name="Freeform 17" id="17" descr="preencoded.png"/>
            <p:cNvSpPr/>
            <p:nvPr/>
          </p:nvSpPr>
          <p:spPr>
            <a:xfrm flipH="false" flipV="false" rot="0">
              <a:off x="0" y="0"/>
              <a:ext cx="4019931" cy="2484374"/>
            </a:xfrm>
            <a:custGeom>
              <a:avLst/>
              <a:gdLst/>
              <a:ahLst/>
              <a:cxnLst/>
              <a:rect r="r" b="b" t="t" l="l"/>
              <a:pathLst>
                <a:path h="2484374" w="4019931">
                  <a:moveTo>
                    <a:pt x="0" y="0"/>
                  </a:moveTo>
                  <a:lnTo>
                    <a:pt x="4019931" y="0"/>
                  </a:lnTo>
                  <a:lnTo>
                    <a:pt x="4019931" y="2484374"/>
                  </a:lnTo>
                  <a:lnTo>
                    <a:pt x="0" y="2484374"/>
                  </a:lnTo>
                  <a:lnTo>
                    <a:pt x="0" y="0"/>
                  </a:lnTo>
                  <a:close/>
                </a:path>
              </a:pathLst>
            </a:custGeom>
            <a:blipFill>
              <a:blip r:embed="rId6"/>
              <a:stretch>
                <a:fillRect l="0" t="-21" r="0" b="-24"/>
              </a:stretch>
            </a:blipFill>
          </p:spPr>
        </p:sp>
      </p:grpSp>
      <p:sp>
        <p:nvSpPr>
          <p:cNvPr name="TextBox 18" id="18"/>
          <p:cNvSpPr txBox="true"/>
          <p:nvPr/>
        </p:nvSpPr>
        <p:spPr>
          <a:xfrm rot="0">
            <a:off x="12097493" y="5696988"/>
            <a:ext cx="3544043" cy="498719"/>
          </a:xfrm>
          <a:prstGeom prst="rect">
            <a:avLst/>
          </a:prstGeom>
        </p:spPr>
        <p:txBody>
          <a:bodyPr anchor="t" rtlCol="false" tIns="0" lIns="0" bIns="0" rIns="0">
            <a:spAutoFit/>
          </a:bodyPr>
          <a:lstStyle/>
          <a:p>
            <a:pPr algn="l">
              <a:lnSpc>
                <a:spcPts val="3499"/>
              </a:lnSpc>
            </a:pPr>
            <a:r>
              <a:rPr lang="en-US" sz="2700" b="true">
                <a:solidFill>
                  <a:srgbClr val="EBEDF0"/>
                </a:solidFill>
                <a:latin typeface="Arimo Bold"/>
                <a:ea typeface="Arimo Bold"/>
                <a:cs typeface="Arimo Bold"/>
                <a:sym typeface="Arimo Bold"/>
              </a:rPr>
              <a:t>Fake Job Offers</a:t>
            </a:r>
          </a:p>
        </p:txBody>
      </p:sp>
      <p:sp>
        <p:nvSpPr>
          <p:cNvPr name="TextBox 19" id="19"/>
          <p:cNvSpPr txBox="true"/>
          <p:nvPr/>
        </p:nvSpPr>
        <p:spPr>
          <a:xfrm rot="0">
            <a:off x="12097493" y="6327724"/>
            <a:ext cx="5198269" cy="2617594"/>
          </a:xfrm>
          <a:prstGeom prst="rect">
            <a:avLst/>
          </a:prstGeom>
        </p:spPr>
        <p:txBody>
          <a:bodyPr anchor="t" rtlCol="false" tIns="0" lIns="0" bIns="0" rIns="0">
            <a:spAutoFit/>
          </a:bodyPr>
          <a:lstStyle/>
          <a:p>
            <a:pPr algn="l">
              <a:lnSpc>
                <a:spcPts val="2851"/>
              </a:lnSpc>
            </a:pPr>
            <a:r>
              <a:rPr lang="en-US" sz="2200">
                <a:solidFill>
                  <a:srgbClr val="EBEDF0"/>
                </a:solidFill>
                <a:latin typeface="Arimo"/>
                <a:ea typeface="Arimo"/>
                <a:cs typeface="Arimo"/>
                <a:sym typeface="Arimo"/>
              </a:rPr>
              <a:t>Fraudulent recruiters send enticing job offers via email or LinkedIn, asking candidates to fill out forms with personal information, submit copies of ID documents, or even pay upfront fees for "background checks" — all of which are used for identity theft or fraud.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852783" y="853678"/>
            <a:ext cx="9096966" cy="858441"/>
          </a:xfrm>
          <a:prstGeom prst="rect">
            <a:avLst/>
          </a:prstGeom>
        </p:spPr>
        <p:txBody>
          <a:bodyPr anchor="t" rtlCol="false" tIns="0" lIns="0" bIns="0" rIns="0">
            <a:spAutoFit/>
          </a:bodyPr>
          <a:lstStyle/>
          <a:p>
            <a:pPr algn="l">
              <a:lnSpc>
                <a:spcPts val="6091"/>
              </a:lnSpc>
            </a:pPr>
            <a:r>
              <a:rPr lang="en-US" sz="4700" b="true">
                <a:solidFill>
                  <a:srgbClr val="F2F5FA"/>
                </a:solidFill>
                <a:latin typeface="Arimo Bold"/>
                <a:ea typeface="Arimo Bold"/>
                <a:cs typeface="Arimo Bold"/>
                <a:sym typeface="Arimo Bold"/>
              </a:rPr>
              <a:t>Best Practices to Stay Safe</a:t>
            </a:r>
          </a:p>
        </p:txBody>
      </p:sp>
      <p:sp>
        <p:nvSpPr>
          <p:cNvPr name="TextBox 7" id="7"/>
          <p:cNvSpPr txBox="true"/>
          <p:nvPr/>
        </p:nvSpPr>
        <p:spPr>
          <a:xfrm rot="0">
            <a:off x="852783" y="2111721"/>
            <a:ext cx="16582434" cy="607809"/>
          </a:xfrm>
          <a:prstGeom prst="rect">
            <a:avLst/>
          </a:prstGeom>
        </p:spPr>
        <p:txBody>
          <a:bodyPr anchor="t" rtlCol="false" tIns="0" lIns="0" bIns="0" rIns="0">
            <a:spAutoFit/>
          </a:bodyPr>
          <a:lstStyle/>
          <a:p>
            <a:pPr algn="l">
              <a:lnSpc>
                <a:spcPts val="2302"/>
              </a:lnSpc>
            </a:pPr>
            <a:r>
              <a:rPr lang="en-US" sz="1900">
                <a:solidFill>
                  <a:srgbClr val="EBEDF0"/>
                </a:solidFill>
                <a:latin typeface="Arimo"/>
                <a:ea typeface="Arimo"/>
                <a:cs typeface="Arimo"/>
                <a:sym typeface="Arimo"/>
              </a:rPr>
              <a:t>Protecting yourself from phishing requires consistent habits and a security-first mindset. Follow these best practices every day to significantly reduce your risk.</a:t>
            </a:r>
          </a:p>
        </p:txBody>
      </p:sp>
      <p:grpSp>
        <p:nvGrpSpPr>
          <p:cNvPr name="Group 8" id="8"/>
          <p:cNvGrpSpPr/>
          <p:nvPr/>
        </p:nvGrpSpPr>
        <p:grpSpPr>
          <a:xfrm rot="0">
            <a:off x="1203874" y="3549701"/>
            <a:ext cx="7849638" cy="272205"/>
            <a:chOff x="0" y="0"/>
            <a:chExt cx="10466184" cy="362941"/>
          </a:xfrm>
        </p:grpSpPr>
        <p:sp>
          <p:nvSpPr>
            <p:cNvPr name="Freeform 9" id="9"/>
            <p:cNvSpPr/>
            <p:nvPr/>
          </p:nvSpPr>
          <p:spPr>
            <a:xfrm flipH="false" flipV="false" rot="0">
              <a:off x="0" y="0"/>
              <a:ext cx="10466070" cy="362839"/>
            </a:xfrm>
            <a:custGeom>
              <a:avLst/>
              <a:gdLst/>
              <a:ahLst/>
              <a:cxnLst/>
              <a:rect r="r" b="b" t="t" l="l"/>
              <a:pathLst>
                <a:path h="362839" w="10466070">
                  <a:moveTo>
                    <a:pt x="0" y="152400"/>
                  </a:moveTo>
                  <a:cubicBezTo>
                    <a:pt x="0" y="68199"/>
                    <a:pt x="68199" y="0"/>
                    <a:pt x="152400" y="0"/>
                  </a:cubicBezTo>
                  <a:lnTo>
                    <a:pt x="10313670" y="0"/>
                  </a:lnTo>
                  <a:cubicBezTo>
                    <a:pt x="10397871" y="0"/>
                    <a:pt x="10466070" y="68199"/>
                    <a:pt x="10466070" y="152400"/>
                  </a:cubicBezTo>
                  <a:lnTo>
                    <a:pt x="10466070" y="210439"/>
                  </a:lnTo>
                  <a:cubicBezTo>
                    <a:pt x="10466070" y="294640"/>
                    <a:pt x="10397871" y="362839"/>
                    <a:pt x="10313670" y="362839"/>
                  </a:cubicBezTo>
                  <a:lnTo>
                    <a:pt x="152400" y="362839"/>
                  </a:lnTo>
                  <a:cubicBezTo>
                    <a:pt x="68199" y="362839"/>
                    <a:pt x="0" y="294640"/>
                    <a:pt x="0" y="210439"/>
                  </a:cubicBezTo>
                  <a:close/>
                </a:path>
              </a:pathLst>
            </a:custGeom>
            <a:solidFill>
              <a:srgbClr val="101620"/>
            </a:solidFill>
            <a:ln w="28576" cap="sq">
              <a:solidFill>
                <a:srgbClr val="002A80"/>
              </a:solidFill>
              <a:prstDash val="solid"/>
              <a:miter/>
            </a:ln>
          </p:spPr>
        </p:sp>
      </p:grpSp>
      <p:grpSp>
        <p:nvGrpSpPr>
          <p:cNvPr name="Group 10" id="10"/>
          <p:cNvGrpSpPr/>
          <p:nvPr/>
        </p:nvGrpSpPr>
        <p:grpSpPr>
          <a:xfrm rot="0">
            <a:off x="838495" y="3305994"/>
            <a:ext cx="759466" cy="759466"/>
            <a:chOff x="0" y="0"/>
            <a:chExt cx="1012622" cy="1012622"/>
          </a:xfrm>
        </p:grpSpPr>
        <p:sp>
          <p:nvSpPr>
            <p:cNvPr name="Freeform 11" id="11"/>
            <p:cNvSpPr/>
            <p:nvPr/>
          </p:nvSpPr>
          <p:spPr>
            <a:xfrm flipH="false" flipV="false" rot="0">
              <a:off x="0" y="0"/>
              <a:ext cx="1012571" cy="1012571"/>
            </a:xfrm>
            <a:custGeom>
              <a:avLst/>
              <a:gdLst/>
              <a:ahLst/>
              <a:cxnLst/>
              <a:rect r="r" b="b" t="t" l="l"/>
              <a:pathLst>
                <a:path h="1012571" w="1012571">
                  <a:moveTo>
                    <a:pt x="0" y="506349"/>
                  </a:moveTo>
                  <a:cubicBezTo>
                    <a:pt x="0" y="226695"/>
                    <a:pt x="226695" y="0"/>
                    <a:pt x="506349" y="0"/>
                  </a:cubicBezTo>
                  <a:cubicBezTo>
                    <a:pt x="786003" y="0"/>
                    <a:pt x="1012571" y="226695"/>
                    <a:pt x="1012571" y="506349"/>
                  </a:cubicBezTo>
                  <a:cubicBezTo>
                    <a:pt x="1012571" y="786003"/>
                    <a:pt x="786003" y="1012571"/>
                    <a:pt x="506349" y="1012571"/>
                  </a:cubicBezTo>
                  <a:cubicBezTo>
                    <a:pt x="226695" y="1012571"/>
                    <a:pt x="0" y="786003"/>
                    <a:pt x="0" y="506349"/>
                  </a:cubicBezTo>
                  <a:close/>
                </a:path>
              </a:pathLst>
            </a:custGeom>
            <a:solidFill>
              <a:srgbClr val="101620"/>
            </a:solidFill>
            <a:ln w="28576" cap="sq">
              <a:solidFill>
                <a:srgbClr val="002A80"/>
              </a:solidFill>
              <a:prstDash val="solid"/>
              <a:miter/>
            </a:ln>
          </p:spPr>
        </p:sp>
      </p:grpSp>
      <p:sp>
        <p:nvSpPr>
          <p:cNvPr name="Freeform 12" id="12" descr="preencoded.png"/>
          <p:cNvSpPr/>
          <p:nvPr/>
        </p:nvSpPr>
        <p:spPr>
          <a:xfrm flipH="false" flipV="false" rot="0">
            <a:off x="1035548" y="3503038"/>
            <a:ext cx="365369" cy="365369"/>
          </a:xfrm>
          <a:custGeom>
            <a:avLst/>
            <a:gdLst/>
            <a:ahLst/>
            <a:cxnLst/>
            <a:rect r="r" b="b" t="t" l="l"/>
            <a:pathLst>
              <a:path h="365369" w="365369">
                <a:moveTo>
                  <a:pt x="0" y="0"/>
                </a:moveTo>
                <a:lnTo>
                  <a:pt x="365370" y="0"/>
                </a:lnTo>
                <a:lnTo>
                  <a:pt x="365370" y="365369"/>
                </a:lnTo>
                <a:lnTo>
                  <a:pt x="0" y="365369"/>
                </a:lnTo>
                <a:lnTo>
                  <a:pt x="0" y="0"/>
                </a:lnTo>
                <a:close/>
              </a:path>
            </a:pathLst>
          </a:custGeom>
          <a:blipFill>
            <a:blip r:embed="rId4">
              <a:extLst>
                <a:ext uri="{96DAC541-7B7A-43D3-8B79-37D633B846F1}">
                  <asvg:svgBlip xmlns:asvg="http://schemas.microsoft.com/office/drawing/2016/SVG/main" r:embed="rId5"/>
                </a:ext>
              </a:extLst>
            </a:blip>
            <a:stretch>
              <a:fillRect l="-16666" t="0" r="-16668" b="0"/>
            </a:stretch>
          </a:blipFill>
        </p:spPr>
      </p:sp>
      <p:sp>
        <p:nvSpPr>
          <p:cNvPr name="TextBox 13" id="13"/>
          <p:cNvSpPr txBox="true"/>
          <p:nvPr/>
        </p:nvSpPr>
        <p:spPr>
          <a:xfrm rot="0">
            <a:off x="1096413" y="4222404"/>
            <a:ext cx="3254578" cy="434130"/>
          </a:xfrm>
          <a:prstGeom prst="rect">
            <a:avLst/>
          </a:prstGeom>
        </p:spPr>
        <p:txBody>
          <a:bodyPr anchor="t" rtlCol="false" tIns="0" lIns="0" bIns="0" rIns="0">
            <a:spAutoFit/>
          </a:bodyPr>
          <a:lstStyle/>
          <a:p>
            <a:pPr algn="l">
              <a:lnSpc>
                <a:spcPts val="2980"/>
              </a:lnSpc>
            </a:pPr>
            <a:r>
              <a:rPr lang="en-US" sz="2300" b="true">
                <a:solidFill>
                  <a:srgbClr val="EBEDF0"/>
                </a:solidFill>
                <a:latin typeface="Arimo Bold"/>
                <a:ea typeface="Arimo Bold"/>
                <a:cs typeface="Arimo Bold"/>
                <a:sym typeface="Arimo Bold"/>
              </a:rPr>
              <a:t>Verify Sender Identity</a:t>
            </a:r>
          </a:p>
        </p:txBody>
      </p:sp>
      <p:sp>
        <p:nvSpPr>
          <p:cNvPr name="TextBox 14" id="14"/>
          <p:cNvSpPr txBox="true"/>
          <p:nvPr/>
        </p:nvSpPr>
        <p:spPr>
          <a:xfrm rot="0">
            <a:off x="1096413" y="4763100"/>
            <a:ext cx="7699324" cy="1196578"/>
          </a:xfrm>
          <a:prstGeom prst="rect">
            <a:avLst/>
          </a:prstGeom>
        </p:spPr>
        <p:txBody>
          <a:bodyPr anchor="t" rtlCol="false" tIns="0" lIns="0" bIns="0" rIns="0">
            <a:spAutoFit/>
          </a:bodyPr>
          <a:lstStyle/>
          <a:p>
            <a:pPr algn="l">
              <a:lnSpc>
                <a:spcPts val="2302"/>
              </a:lnSpc>
            </a:pPr>
            <a:r>
              <a:rPr lang="en-US" sz="1900">
                <a:solidFill>
                  <a:srgbClr val="EBEDF0"/>
                </a:solidFill>
                <a:latin typeface="Arimo"/>
                <a:ea typeface="Arimo"/>
                <a:cs typeface="Arimo"/>
                <a:sym typeface="Arimo"/>
              </a:rPr>
              <a:t>Before responding to any email or message requesting sensitive information, independently verify the sender's identity by contacting them through a known, trusted channel — not the contact details provided in the suspicious message.</a:t>
            </a:r>
          </a:p>
        </p:txBody>
      </p:sp>
      <p:grpSp>
        <p:nvGrpSpPr>
          <p:cNvPr name="Group 15" id="15"/>
          <p:cNvGrpSpPr/>
          <p:nvPr/>
        </p:nvGrpSpPr>
        <p:grpSpPr>
          <a:xfrm rot="0">
            <a:off x="9599714" y="3184322"/>
            <a:ext cx="7849638" cy="272205"/>
            <a:chOff x="0" y="0"/>
            <a:chExt cx="10466184" cy="362941"/>
          </a:xfrm>
        </p:grpSpPr>
        <p:sp>
          <p:nvSpPr>
            <p:cNvPr name="Freeform 16" id="16"/>
            <p:cNvSpPr/>
            <p:nvPr/>
          </p:nvSpPr>
          <p:spPr>
            <a:xfrm flipH="false" flipV="false" rot="0">
              <a:off x="0" y="0"/>
              <a:ext cx="10466070" cy="362839"/>
            </a:xfrm>
            <a:custGeom>
              <a:avLst/>
              <a:gdLst/>
              <a:ahLst/>
              <a:cxnLst/>
              <a:rect r="r" b="b" t="t" l="l"/>
              <a:pathLst>
                <a:path h="362839" w="10466070">
                  <a:moveTo>
                    <a:pt x="0" y="152400"/>
                  </a:moveTo>
                  <a:cubicBezTo>
                    <a:pt x="0" y="68199"/>
                    <a:pt x="68199" y="0"/>
                    <a:pt x="152400" y="0"/>
                  </a:cubicBezTo>
                  <a:lnTo>
                    <a:pt x="10313670" y="0"/>
                  </a:lnTo>
                  <a:cubicBezTo>
                    <a:pt x="10397871" y="0"/>
                    <a:pt x="10466070" y="68199"/>
                    <a:pt x="10466070" y="152400"/>
                  </a:cubicBezTo>
                  <a:lnTo>
                    <a:pt x="10466070" y="210439"/>
                  </a:lnTo>
                  <a:cubicBezTo>
                    <a:pt x="10466070" y="294640"/>
                    <a:pt x="10397871" y="362839"/>
                    <a:pt x="10313670" y="362839"/>
                  </a:cubicBezTo>
                  <a:lnTo>
                    <a:pt x="152400" y="362839"/>
                  </a:lnTo>
                  <a:cubicBezTo>
                    <a:pt x="68199" y="362839"/>
                    <a:pt x="0" y="294640"/>
                    <a:pt x="0" y="210439"/>
                  </a:cubicBezTo>
                  <a:close/>
                </a:path>
              </a:pathLst>
            </a:custGeom>
            <a:solidFill>
              <a:srgbClr val="101620"/>
            </a:solidFill>
            <a:ln w="28576" cap="sq">
              <a:solidFill>
                <a:srgbClr val="002A80"/>
              </a:solidFill>
              <a:prstDash val="solid"/>
              <a:miter/>
            </a:ln>
          </p:spPr>
        </p:sp>
      </p:grpSp>
      <p:grpSp>
        <p:nvGrpSpPr>
          <p:cNvPr name="Group 17" id="17"/>
          <p:cNvGrpSpPr/>
          <p:nvPr/>
        </p:nvGrpSpPr>
        <p:grpSpPr>
          <a:xfrm rot="0">
            <a:off x="9234335" y="2940625"/>
            <a:ext cx="759466" cy="759466"/>
            <a:chOff x="0" y="0"/>
            <a:chExt cx="1012622" cy="1012622"/>
          </a:xfrm>
        </p:grpSpPr>
        <p:sp>
          <p:nvSpPr>
            <p:cNvPr name="Freeform 18" id="18"/>
            <p:cNvSpPr/>
            <p:nvPr/>
          </p:nvSpPr>
          <p:spPr>
            <a:xfrm flipH="false" flipV="false" rot="0">
              <a:off x="0" y="0"/>
              <a:ext cx="1012571" cy="1012571"/>
            </a:xfrm>
            <a:custGeom>
              <a:avLst/>
              <a:gdLst/>
              <a:ahLst/>
              <a:cxnLst/>
              <a:rect r="r" b="b" t="t" l="l"/>
              <a:pathLst>
                <a:path h="1012571" w="1012571">
                  <a:moveTo>
                    <a:pt x="0" y="506349"/>
                  </a:moveTo>
                  <a:cubicBezTo>
                    <a:pt x="0" y="226695"/>
                    <a:pt x="226695" y="0"/>
                    <a:pt x="506349" y="0"/>
                  </a:cubicBezTo>
                  <a:cubicBezTo>
                    <a:pt x="786003" y="0"/>
                    <a:pt x="1012571" y="226695"/>
                    <a:pt x="1012571" y="506349"/>
                  </a:cubicBezTo>
                  <a:cubicBezTo>
                    <a:pt x="1012571" y="786003"/>
                    <a:pt x="786003" y="1012571"/>
                    <a:pt x="506349" y="1012571"/>
                  </a:cubicBezTo>
                  <a:cubicBezTo>
                    <a:pt x="226695" y="1012571"/>
                    <a:pt x="0" y="786003"/>
                    <a:pt x="0" y="506349"/>
                  </a:cubicBezTo>
                  <a:close/>
                </a:path>
              </a:pathLst>
            </a:custGeom>
            <a:solidFill>
              <a:srgbClr val="101620"/>
            </a:solidFill>
            <a:ln w="28576" cap="sq">
              <a:solidFill>
                <a:srgbClr val="002A80"/>
              </a:solidFill>
              <a:prstDash val="solid"/>
              <a:miter/>
            </a:ln>
          </p:spPr>
        </p:sp>
      </p:grpSp>
      <p:sp>
        <p:nvSpPr>
          <p:cNvPr name="Freeform 19" id="19" descr="preencoded.png"/>
          <p:cNvSpPr/>
          <p:nvPr/>
        </p:nvSpPr>
        <p:spPr>
          <a:xfrm flipH="false" flipV="false" rot="0">
            <a:off x="9431388" y="3137668"/>
            <a:ext cx="365369" cy="365369"/>
          </a:xfrm>
          <a:custGeom>
            <a:avLst/>
            <a:gdLst/>
            <a:ahLst/>
            <a:cxnLst/>
            <a:rect r="r" b="b" t="t" l="l"/>
            <a:pathLst>
              <a:path h="365369" w="365369">
                <a:moveTo>
                  <a:pt x="0" y="0"/>
                </a:moveTo>
                <a:lnTo>
                  <a:pt x="365370" y="0"/>
                </a:lnTo>
                <a:lnTo>
                  <a:pt x="365370" y="365370"/>
                </a:lnTo>
                <a:lnTo>
                  <a:pt x="0" y="365370"/>
                </a:lnTo>
                <a:lnTo>
                  <a:pt x="0" y="0"/>
                </a:lnTo>
                <a:close/>
              </a:path>
            </a:pathLst>
          </a:custGeom>
          <a:blipFill>
            <a:blip r:embed="rId6">
              <a:extLst>
                <a:ext uri="{96DAC541-7B7A-43D3-8B79-37D633B846F1}">
                  <asvg:svgBlip xmlns:asvg="http://schemas.microsoft.com/office/drawing/2016/SVG/main" r:embed="rId7"/>
                </a:ext>
              </a:extLst>
            </a:blip>
            <a:stretch>
              <a:fillRect l="0" t="-1282" r="0" b="-1282"/>
            </a:stretch>
          </a:blipFill>
        </p:spPr>
      </p:sp>
      <p:sp>
        <p:nvSpPr>
          <p:cNvPr name="TextBox 20" id="20"/>
          <p:cNvSpPr txBox="true"/>
          <p:nvPr/>
        </p:nvSpPr>
        <p:spPr>
          <a:xfrm rot="0">
            <a:off x="9492263" y="3857034"/>
            <a:ext cx="4170312" cy="434130"/>
          </a:xfrm>
          <a:prstGeom prst="rect">
            <a:avLst/>
          </a:prstGeom>
        </p:spPr>
        <p:txBody>
          <a:bodyPr anchor="t" rtlCol="false" tIns="0" lIns="0" bIns="0" rIns="0">
            <a:spAutoFit/>
          </a:bodyPr>
          <a:lstStyle/>
          <a:p>
            <a:pPr algn="l">
              <a:lnSpc>
                <a:spcPts val="2980"/>
              </a:lnSpc>
            </a:pPr>
            <a:r>
              <a:rPr lang="en-US" sz="2300" b="true">
                <a:solidFill>
                  <a:srgbClr val="EBEDF0"/>
                </a:solidFill>
                <a:latin typeface="Arimo Bold"/>
                <a:ea typeface="Arimo Bold"/>
                <a:cs typeface="Arimo Bold"/>
                <a:sym typeface="Arimo Bold"/>
              </a:rPr>
              <a:t>Do Not Click Unknown Links</a:t>
            </a:r>
          </a:p>
        </p:txBody>
      </p:sp>
      <p:sp>
        <p:nvSpPr>
          <p:cNvPr name="TextBox 21" id="21"/>
          <p:cNvSpPr txBox="true"/>
          <p:nvPr/>
        </p:nvSpPr>
        <p:spPr>
          <a:xfrm rot="0">
            <a:off x="9492263" y="4397721"/>
            <a:ext cx="7699324" cy="902198"/>
          </a:xfrm>
          <a:prstGeom prst="rect">
            <a:avLst/>
          </a:prstGeom>
        </p:spPr>
        <p:txBody>
          <a:bodyPr anchor="t" rtlCol="false" tIns="0" lIns="0" bIns="0" rIns="0">
            <a:spAutoFit/>
          </a:bodyPr>
          <a:lstStyle/>
          <a:p>
            <a:pPr algn="l">
              <a:lnSpc>
                <a:spcPts val="2302"/>
              </a:lnSpc>
            </a:pPr>
            <a:r>
              <a:rPr lang="en-US" sz="1900">
                <a:solidFill>
                  <a:srgbClr val="EBEDF0"/>
                </a:solidFill>
                <a:latin typeface="Arimo"/>
                <a:ea typeface="Arimo"/>
                <a:cs typeface="Arimo"/>
                <a:sym typeface="Arimo"/>
              </a:rPr>
              <a:t>Hover over links to preview the destination URL before clicking. When in doubt, navigate directly to the website by typing the address into your browser rather than following a link in an email or message.</a:t>
            </a:r>
          </a:p>
        </p:txBody>
      </p:sp>
      <p:grpSp>
        <p:nvGrpSpPr>
          <p:cNvPr name="Group 22" id="22"/>
          <p:cNvGrpSpPr/>
          <p:nvPr/>
        </p:nvGrpSpPr>
        <p:grpSpPr>
          <a:xfrm rot="0">
            <a:off x="1203874" y="7007276"/>
            <a:ext cx="7849638" cy="272205"/>
            <a:chOff x="0" y="0"/>
            <a:chExt cx="10466184" cy="362941"/>
          </a:xfrm>
        </p:grpSpPr>
        <p:sp>
          <p:nvSpPr>
            <p:cNvPr name="Freeform 23" id="23"/>
            <p:cNvSpPr/>
            <p:nvPr/>
          </p:nvSpPr>
          <p:spPr>
            <a:xfrm flipH="false" flipV="false" rot="0">
              <a:off x="0" y="0"/>
              <a:ext cx="10466070" cy="362839"/>
            </a:xfrm>
            <a:custGeom>
              <a:avLst/>
              <a:gdLst/>
              <a:ahLst/>
              <a:cxnLst/>
              <a:rect r="r" b="b" t="t" l="l"/>
              <a:pathLst>
                <a:path h="362839" w="10466070">
                  <a:moveTo>
                    <a:pt x="0" y="152400"/>
                  </a:moveTo>
                  <a:cubicBezTo>
                    <a:pt x="0" y="68199"/>
                    <a:pt x="68199" y="0"/>
                    <a:pt x="152400" y="0"/>
                  </a:cubicBezTo>
                  <a:lnTo>
                    <a:pt x="10313670" y="0"/>
                  </a:lnTo>
                  <a:cubicBezTo>
                    <a:pt x="10397871" y="0"/>
                    <a:pt x="10466070" y="68199"/>
                    <a:pt x="10466070" y="152400"/>
                  </a:cubicBezTo>
                  <a:lnTo>
                    <a:pt x="10466070" y="210439"/>
                  </a:lnTo>
                  <a:cubicBezTo>
                    <a:pt x="10466070" y="294640"/>
                    <a:pt x="10397871" y="362839"/>
                    <a:pt x="10313670" y="362839"/>
                  </a:cubicBezTo>
                  <a:lnTo>
                    <a:pt x="152400" y="362839"/>
                  </a:lnTo>
                  <a:cubicBezTo>
                    <a:pt x="68199" y="362839"/>
                    <a:pt x="0" y="294640"/>
                    <a:pt x="0" y="210439"/>
                  </a:cubicBezTo>
                  <a:close/>
                </a:path>
              </a:pathLst>
            </a:custGeom>
            <a:solidFill>
              <a:srgbClr val="101620"/>
            </a:solidFill>
            <a:ln w="28576" cap="sq">
              <a:solidFill>
                <a:srgbClr val="002A80"/>
              </a:solidFill>
              <a:prstDash val="solid"/>
              <a:miter/>
            </a:ln>
          </p:spPr>
        </p:sp>
      </p:grpSp>
      <p:grpSp>
        <p:nvGrpSpPr>
          <p:cNvPr name="Group 24" id="24"/>
          <p:cNvGrpSpPr/>
          <p:nvPr/>
        </p:nvGrpSpPr>
        <p:grpSpPr>
          <a:xfrm rot="0">
            <a:off x="838495" y="6763569"/>
            <a:ext cx="759466" cy="759466"/>
            <a:chOff x="0" y="0"/>
            <a:chExt cx="1012622" cy="1012622"/>
          </a:xfrm>
        </p:grpSpPr>
        <p:sp>
          <p:nvSpPr>
            <p:cNvPr name="Freeform 25" id="25"/>
            <p:cNvSpPr/>
            <p:nvPr/>
          </p:nvSpPr>
          <p:spPr>
            <a:xfrm flipH="false" flipV="false" rot="0">
              <a:off x="0" y="0"/>
              <a:ext cx="1012571" cy="1012571"/>
            </a:xfrm>
            <a:custGeom>
              <a:avLst/>
              <a:gdLst/>
              <a:ahLst/>
              <a:cxnLst/>
              <a:rect r="r" b="b" t="t" l="l"/>
              <a:pathLst>
                <a:path h="1012571" w="1012571">
                  <a:moveTo>
                    <a:pt x="0" y="506349"/>
                  </a:moveTo>
                  <a:cubicBezTo>
                    <a:pt x="0" y="226695"/>
                    <a:pt x="226695" y="0"/>
                    <a:pt x="506349" y="0"/>
                  </a:cubicBezTo>
                  <a:cubicBezTo>
                    <a:pt x="786003" y="0"/>
                    <a:pt x="1012571" y="226695"/>
                    <a:pt x="1012571" y="506349"/>
                  </a:cubicBezTo>
                  <a:cubicBezTo>
                    <a:pt x="1012571" y="786003"/>
                    <a:pt x="786003" y="1012571"/>
                    <a:pt x="506349" y="1012571"/>
                  </a:cubicBezTo>
                  <a:cubicBezTo>
                    <a:pt x="226695" y="1012571"/>
                    <a:pt x="0" y="786003"/>
                    <a:pt x="0" y="506349"/>
                  </a:cubicBezTo>
                  <a:close/>
                </a:path>
              </a:pathLst>
            </a:custGeom>
            <a:solidFill>
              <a:srgbClr val="101620"/>
            </a:solidFill>
            <a:ln w="28576" cap="sq">
              <a:solidFill>
                <a:srgbClr val="002A80"/>
              </a:solidFill>
              <a:prstDash val="solid"/>
              <a:miter/>
            </a:ln>
          </p:spPr>
        </p:sp>
      </p:grpSp>
      <p:sp>
        <p:nvSpPr>
          <p:cNvPr name="Freeform 26" id="26" descr="preencoded.png"/>
          <p:cNvSpPr/>
          <p:nvPr/>
        </p:nvSpPr>
        <p:spPr>
          <a:xfrm flipH="false" flipV="false" rot="0">
            <a:off x="1035548" y="6960613"/>
            <a:ext cx="365369" cy="365369"/>
          </a:xfrm>
          <a:custGeom>
            <a:avLst/>
            <a:gdLst/>
            <a:ahLst/>
            <a:cxnLst/>
            <a:rect r="r" b="b" t="t" l="l"/>
            <a:pathLst>
              <a:path h="365369" w="365369">
                <a:moveTo>
                  <a:pt x="0" y="0"/>
                </a:moveTo>
                <a:lnTo>
                  <a:pt x="365370" y="0"/>
                </a:lnTo>
                <a:lnTo>
                  <a:pt x="365370" y="365369"/>
                </a:lnTo>
                <a:lnTo>
                  <a:pt x="0" y="365369"/>
                </a:lnTo>
                <a:lnTo>
                  <a:pt x="0" y="0"/>
                </a:lnTo>
                <a:close/>
              </a:path>
            </a:pathLst>
          </a:custGeom>
          <a:blipFill>
            <a:blip r:embed="rId8">
              <a:extLst>
                <a:ext uri="{96DAC541-7B7A-43D3-8B79-37D633B846F1}">
                  <asvg:svgBlip xmlns:asvg="http://schemas.microsoft.com/office/drawing/2016/SVG/main" r:embed="rId9"/>
                </a:ext>
              </a:extLst>
            </a:blip>
            <a:stretch>
              <a:fillRect l="0" t="-5127" r="0" b="-5130"/>
            </a:stretch>
          </a:blipFill>
        </p:spPr>
      </p:sp>
      <p:sp>
        <p:nvSpPr>
          <p:cNvPr name="TextBox 27" id="27"/>
          <p:cNvSpPr txBox="true"/>
          <p:nvPr/>
        </p:nvSpPr>
        <p:spPr>
          <a:xfrm rot="0">
            <a:off x="1096413" y="7679979"/>
            <a:ext cx="4529290" cy="434130"/>
          </a:xfrm>
          <a:prstGeom prst="rect">
            <a:avLst/>
          </a:prstGeom>
        </p:spPr>
        <p:txBody>
          <a:bodyPr anchor="t" rtlCol="false" tIns="0" lIns="0" bIns="0" rIns="0">
            <a:spAutoFit/>
          </a:bodyPr>
          <a:lstStyle/>
          <a:p>
            <a:pPr algn="l">
              <a:lnSpc>
                <a:spcPts val="2980"/>
              </a:lnSpc>
            </a:pPr>
            <a:r>
              <a:rPr lang="en-US" sz="2300" b="true">
                <a:solidFill>
                  <a:srgbClr val="EBEDF0"/>
                </a:solidFill>
                <a:latin typeface="Arimo Bold"/>
                <a:ea typeface="Arimo Bold"/>
                <a:cs typeface="Arimo Bold"/>
                <a:sym typeface="Arimo Bold"/>
              </a:rPr>
              <a:t>Use Strong, Unique Passwords</a:t>
            </a:r>
          </a:p>
        </p:txBody>
      </p:sp>
      <p:sp>
        <p:nvSpPr>
          <p:cNvPr name="TextBox 28" id="28"/>
          <p:cNvSpPr txBox="true"/>
          <p:nvPr/>
        </p:nvSpPr>
        <p:spPr>
          <a:xfrm rot="0">
            <a:off x="1096413" y="8220666"/>
            <a:ext cx="7699324" cy="902198"/>
          </a:xfrm>
          <a:prstGeom prst="rect">
            <a:avLst/>
          </a:prstGeom>
        </p:spPr>
        <p:txBody>
          <a:bodyPr anchor="t" rtlCol="false" tIns="0" lIns="0" bIns="0" rIns="0">
            <a:spAutoFit/>
          </a:bodyPr>
          <a:lstStyle/>
          <a:p>
            <a:pPr algn="l">
              <a:lnSpc>
                <a:spcPts val="2302"/>
              </a:lnSpc>
            </a:pPr>
            <a:r>
              <a:rPr lang="en-US" sz="1900">
                <a:solidFill>
                  <a:srgbClr val="EBEDF0"/>
                </a:solidFill>
                <a:latin typeface="Arimo"/>
                <a:ea typeface="Arimo"/>
                <a:cs typeface="Arimo"/>
                <a:sym typeface="Arimo"/>
              </a:rPr>
              <a:t>Use a different strong password for every account. A password manager can help you generate and store complex passwords securely, so you never have to reuse credentials across multiple sites.</a:t>
            </a:r>
          </a:p>
        </p:txBody>
      </p:sp>
      <p:grpSp>
        <p:nvGrpSpPr>
          <p:cNvPr name="Group 29" id="29"/>
          <p:cNvGrpSpPr/>
          <p:nvPr/>
        </p:nvGrpSpPr>
        <p:grpSpPr>
          <a:xfrm rot="0">
            <a:off x="9599714" y="6641906"/>
            <a:ext cx="7849638" cy="272205"/>
            <a:chOff x="0" y="0"/>
            <a:chExt cx="10466184" cy="362941"/>
          </a:xfrm>
        </p:grpSpPr>
        <p:sp>
          <p:nvSpPr>
            <p:cNvPr name="Freeform 30" id="30"/>
            <p:cNvSpPr/>
            <p:nvPr/>
          </p:nvSpPr>
          <p:spPr>
            <a:xfrm flipH="false" flipV="false" rot="0">
              <a:off x="0" y="0"/>
              <a:ext cx="10466070" cy="362839"/>
            </a:xfrm>
            <a:custGeom>
              <a:avLst/>
              <a:gdLst/>
              <a:ahLst/>
              <a:cxnLst/>
              <a:rect r="r" b="b" t="t" l="l"/>
              <a:pathLst>
                <a:path h="362839" w="10466070">
                  <a:moveTo>
                    <a:pt x="0" y="152400"/>
                  </a:moveTo>
                  <a:cubicBezTo>
                    <a:pt x="0" y="68199"/>
                    <a:pt x="68199" y="0"/>
                    <a:pt x="152400" y="0"/>
                  </a:cubicBezTo>
                  <a:lnTo>
                    <a:pt x="10313670" y="0"/>
                  </a:lnTo>
                  <a:cubicBezTo>
                    <a:pt x="10397871" y="0"/>
                    <a:pt x="10466070" y="68199"/>
                    <a:pt x="10466070" y="152400"/>
                  </a:cubicBezTo>
                  <a:lnTo>
                    <a:pt x="10466070" y="210439"/>
                  </a:lnTo>
                  <a:cubicBezTo>
                    <a:pt x="10466070" y="294640"/>
                    <a:pt x="10397871" y="362839"/>
                    <a:pt x="10313670" y="362839"/>
                  </a:cubicBezTo>
                  <a:lnTo>
                    <a:pt x="152400" y="362839"/>
                  </a:lnTo>
                  <a:cubicBezTo>
                    <a:pt x="68199" y="362839"/>
                    <a:pt x="0" y="294640"/>
                    <a:pt x="0" y="210439"/>
                  </a:cubicBezTo>
                  <a:close/>
                </a:path>
              </a:pathLst>
            </a:custGeom>
            <a:solidFill>
              <a:srgbClr val="101620"/>
            </a:solidFill>
            <a:ln w="28576" cap="sq">
              <a:solidFill>
                <a:srgbClr val="002A80"/>
              </a:solidFill>
              <a:prstDash val="solid"/>
              <a:miter/>
            </a:ln>
          </p:spPr>
        </p:sp>
      </p:grpSp>
      <p:grpSp>
        <p:nvGrpSpPr>
          <p:cNvPr name="Group 31" id="31"/>
          <p:cNvGrpSpPr/>
          <p:nvPr/>
        </p:nvGrpSpPr>
        <p:grpSpPr>
          <a:xfrm rot="0">
            <a:off x="9234335" y="6398200"/>
            <a:ext cx="759466" cy="759466"/>
            <a:chOff x="0" y="0"/>
            <a:chExt cx="1012622" cy="1012622"/>
          </a:xfrm>
        </p:grpSpPr>
        <p:sp>
          <p:nvSpPr>
            <p:cNvPr name="Freeform 32" id="32"/>
            <p:cNvSpPr/>
            <p:nvPr/>
          </p:nvSpPr>
          <p:spPr>
            <a:xfrm flipH="false" flipV="false" rot="0">
              <a:off x="0" y="0"/>
              <a:ext cx="1012571" cy="1012571"/>
            </a:xfrm>
            <a:custGeom>
              <a:avLst/>
              <a:gdLst/>
              <a:ahLst/>
              <a:cxnLst/>
              <a:rect r="r" b="b" t="t" l="l"/>
              <a:pathLst>
                <a:path h="1012571" w="1012571">
                  <a:moveTo>
                    <a:pt x="0" y="506349"/>
                  </a:moveTo>
                  <a:cubicBezTo>
                    <a:pt x="0" y="226695"/>
                    <a:pt x="226695" y="0"/>
                    <a:pt x="506349" y="0"/>
                  </a:cubicBezTo>
                  <a:cubicBezTo>
                    <a:pt x="786003" y="0"/>
                    <a:pt x="1012571" y="226695"/>
                    <a:pt x="1012571" y="506349"/>
                  </a:cubicBezTo>
                  <a:cubicBezTo>
                    <a:pt x="1012571" y="786003"/>
                    <a:pt x="786003" y="1012571"/>
                    <a:pt x="506349" y="1012571"/>
                  </a:cubicBezTo>
                  <a:cubicBezTo>
                    <a:pt x="226695" y="1012571"/>
                    <a:pt x="0" y="786003"/>
                    <a:pt x="0" y="506349"/>
                  </a:cubicBezTo>
                  <a:close/>
                </a:path>
              </a:pathLst>
            </a:custGeom>
            <a:solidFill>
              <a:srgbClr val="101620"/>
            </a:solidFill>
            <a:ln w="28576" cap="sq">
              <a:solidFill>
                <a:srgbClr val="002A80"/>
              </a:solidFill>
              <a:prstDash val="solid"/>
              <a:miter/>
            </a:ln>
          </p:spPr>
        </p:sp>
      </p:grpSp>
      <p:sp>
        <p:nvSpPr>
          <p:cNvPr name="Freeform 33" id="33" descr="preencoded.png"/>
          <p:cNvSpPr/>
          <p:nvPr/>
        </p:nvSpPr>
        <p:spPr>
          <a:xfrm flipH="false" flipV="false" rot="0">
            <a:off x="9431388" y="6595243"/>
            <a:ext cx="365369" cy="365369"/>
          </a:xfrm>
          <a:custGeom>
            <a:avLst/>
            <a:gdLst/>
            <a:ahLst/>
            <a:cxnLst/>
            <a:rect r="r" b="b" t="t" l="l"/>
            <a:pathLst>
              <a:path h="365369" w="365369">
                <a:moveTo>
                  <a:pt x="0" y="0"/>
                </a:moveTo>
                <a:lnTo>
                  <a:pt x="365370" y="0"/>
                </a:lnTo>
                <a:lnTo>
                  <a:pt x="365370" y="365370"/>
                </a:lnTo>
                <a:lnTo>
                  <a:pt x="0" y="3653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4" id="34"/>
          <p:cNvSpPr txBox="true"/>
          <p:nvPr/>
        </p:nvSpPr>
        <p:spPr>
          <a:xfrm rot="0">
            <a:off x="9492263" y="7314600"/>
            <a:ext cx="3045771" cy="434130"/>
          </a:xfrm>
          <a:prstGeom prst="rect">
            <a:avLst/>
          </a:prstGeom>
        </p:spPr>
        <p:txBody>
          <a:bodyPr anchor="t" rtlCol="false" tIns="0" lIns="0" bIns="0" rIns="0">
            <a:spAutoFit/>
          </a:bodyPr>
          <a:lstStyle/>
          <a:p>
            <a:pPr algn="l">
              <a:lnSpc>
                <a:spcPts val="2980"/>
              </a:lnSpc>
            </a:pPr>
            <a:r>
              <a:rPr lang="en-US" sz="2300" b="true">
                <a:solidFill>
                  <a:srgbClr val="EBEDF0"/>
                </a:solidFill>
                <a:latin typeface="Arimo Bold"/>
                <a:ea typeface="Arimo Bold"/>
                <a:cs typeface="Arimo Bold"/>
                <a:sym typeface="Arimo Bold"/>
              </a:rPr>
              <a:t>Enable MFA / 2FA</a:t>
            </a:r>
          </a:p>
        </p:txBody>
      </p:sp>
      <p:sp>
        <p:nvSpPr>
          <p:cNvPr name="TextBox 35" id="35"/>
          <p:cNvSpPr txBox="true"/>
          <p:nvPr/>
        </p:nvSpPr>
        <p:spPr>
          <a:xfrm rot="0">
            <a:off x="9492263" y="7855296"/>
            <a:ext cx="7699324" cy="1196578"/>
          </a:xfrm>
          <a:prstGeom prst="rect">
            <a:avLst/>
          </a:prstGeom>
        </p:spPr>
        <p:txBody>
          <a:bodyPr anchor="t" rtlCol="false" tIns="0" lIns="0" bIns="0" rIns="0">
            <a:spAutoFit/>
          </a:bodyPr>
          <a:lstStyle/>
          <a:p>
            <a:pPr algn="l">
              <a:lnSpc>
                <a:spcPts val="2302"/>
              </a:lnSpc>
            </a:pPr>
            <a:r>
              <a:rPr lang="en-US" sz="1900">
                <a:solidFill>
                  <a:srgbClr val="EBEDF0"/>
                </a:solidFill>
                <a:latin typeface="Arimo"/>
                <a:ea typeface="Arimo"/>
                <a:cs typeface="Arimo"/>
                <a:sym typeface="Arimo"/>
              </a:rPr>
              <a:t>Multi-Factor Authentication (MFA) or Two-Factor Authentication (2FA) adds a critical second layer of security. Even if an attacker obtains your password, they cannot access your account without the second verification factor.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01620">
                <a:alpha val="90196"/>
              </a:srgbClr>
            </a:solidFill>
          </p:spPr>
        </p:sp>
      </p:grpSp>
      <p:sp>
        <p:nvSpPr>
          <p:cNvPr name="TextBox 6" id="6"/>
          <p:cNvSpPr txBox="true"/>
          <p:nvPr/>
        </p:nvSpPr>
        <p:spPr>
          <a:xfrm rot="0">
            <a:off x="3947370" y="459134"/>
            <a:ext cx="7205367" cy="527599"/>
          </a:xfrm>
          <a:prstGeom prst="rect">
            <a:avLst/>
          </a:prstGeom>
        </p:spPr>
        <p:txBody>
          <a:bodyPr anchor="t" rtlCol="false" tIns="0" lIns="0" bIns="0" rIns="0">
            <a:spAutoFit/>
          </a:bodyPr>
          <a:lstStyle/>
          <a:p>
            <a:pPr algn="l">
              <a:lnSpc>
                <a:spcPts val="3758"/>
              </a:lnSpc>
            </a:pPr>
            <a:r>
              <a:rPr lang="en-US" sz="2900" b="true">
                <a:solidFill>
                  <a:srgbClr val="F2F5FA"/>
                </a:solidFill>
                <a:latin typeface="Arimo Bold"/>
                <a:ea typeface="Arimo Bold"/>
                <a:cs typeface="Arimo Bold"/>
                <a:sym typeface="Arimo Bold"/>
              </a:rPr>
              <a:t>What To Do If You've Been Phished</a:t>
            </a:r>
          </a:p>
        </p:txBody>
      </p:sp>
      <p:sp>
        <p:nvSpPr>
          <p:cNvPr name="TextBox 7" id="7"/>
          <p:cNvSpPr txBox="true"/>
          <p:nvPr/>
        </p:nvSpPr>
        <p:spPr>
          <a:xfrm rot="0">
            <a:off x="3947370" y="1156249"/>
            <a:ext cx="10393261" cy="290217"/>
          </a:xfrm>
          <a:prstGeom prst="rect">
            <a:avLst/>
          </a:prstGeom>
        </p:spPr>
        <p:txBody>
          <a:bodyPr anchor="t" rtlCol="false" tIns="0" lIns="0" bIns="0" rIns="0">
            <a:spAutoFit/>
          </a:bodyPr>
          <a:lstStyle/>
          <a:p>
            <a:pPr algn="l">
              <a:lnSpc>
                <a:spcPts val="1095"/>
              </a:lnSpc>
            </a:pPr>
            <a:r>
              <a:rPr lang="en-US" sz="1100">
                <a:solidFill>
                  <a:srgbClr val="EBEDF0"/>
                </a:solidFill>
                <a:latin typeface="Arimo"/>
                <a:ea typeface="Arimo"/>
                <a:cs typeface="Arimo"/>
                <a:sym typeface="Arimo"/>
              </a:rPr>
              <a:t>Acting quickly and decisively after a phishing incident can significantly limit the damage. If you suspect you've fallen victim to a phishing attack, follow these steps immediately.</a:t>
            </a:r>
          </a:p>
        </p:txBody>
      </p:sp>
      <p:sp>
        <p:nvSpPr>
          <p:cNvPr name="Freeform 8" id="8" descr="preencoded.png"/>
          <p:cNvSpPr/>
          <p:nvPr/>
        </p:nvSpPr>
        <p:spPr>
          <a:xfrm flipH="false" flipV="false" rot="0">
            <a:off x="3947370" y="1626241"/>
            <a:ext cx="3398787" cy="1846059"/>
          </a:xfrm>
          <a:custGeom>
            <a:avLst/>
            <a:gdLst/>
            <a:ahLst/>
            <a:cxnLst/>
            <a:rect r="r" b="b" t="t" l="l"/>
            <a:pathLst>
              <a:path h="1846059" w="3398787">
                <a:moveTo>
                  <a:pt x="0" y="0"/>
                </a:moveTo>
                <a:lnTo>
                  <a:pt x="3398786" y="0"/>
                </a:lnTo>
                <a:lnTo>
                  <a:pt x="3398786" y="1846060"/>
                </a:lnTo>
                <a:lnTo>
                  <a:pt x="0" y="1846060"/>
                </a:lnTo>
                <a:lnTo>
                  <a:pt x="0" y="0"/>
                </a:lnTo>
                <a:close/>
              </a:path>
            </a:pathLst>
          </a:custGeom>
          <a:blipFill>
            <a:blip r:embed="rId4">
              <a:extLst>
                <a:ext uri="{96DAC541-7B7A-43D3-8B79-37D633B846F1}">
                  <asvg:svgBlip xmlns:asvg="http://schemas.microsoft.com/office/drawing/2016/SVG/main" r:embed="rId5"/>
                </a:ext>
              </a:extLst>
            </a:blip>
            <a:stretch>
              <a:fillRect l="0" t="-282" r="0" b="-282"/>
            </a:stretch>
          </a:blipFill>
        </p:spPr>
      </p:sp>
      <p:grpSp>
        <p:nvGrpSpPr>
          <p:cNvPr name="Group 9" id="9"/>
          <p:cNvGrpSpPr/>
          <p:nvPr/>
        </p:nvGrpSpPr>
        <p:grpSpPr>
          <a:xfrm rot="0">
            <a:off x="5556352" y="1734741"/>
            <a:ext cx="180680" cy="234848"/>
            <a:chOff x="0" y="0"/>
            <a:chExt cx="240906" cy="313131"/>
          </a:xfrm>
        </p:grpSpPr>
        <p:sp>
          <p:nvSpPr>
            <p:cNvPr name="Freeform 10" id="10"/>
            <p:cNvSpPr/>
            <p:nvPr/>
          </p:nvSpPr>
          <p:spPr>
            <a:xfrm flipH="false" flipV="false" rot="0">
              <a:off x="0" y="0"/>
              <a:ext cx="240904" cy="313133"/>
            </a:xfrm>
            <a:custGeom>
              <a:avLst/>
              <a:gdLst/>
              <a:ahLst/>
              <a:cxnLst/>
              <a:rect r="r" b="b" t="t" l="l"/>
              <a:pathLst>
                <a:path h="313133" w="240904">
                  <a:moveTo>
                    <a:pt x="0" y="0"/>
                  </a:moveTo>
                  <a:lnTo>
                    <a:pt x="240904" y="0"/>
                  </a:lnTo>
                  <a:lnTo>
                    <a:pt x="240904" y="313133"/>
                  </a:lnTo>
                  <a:lnTo>
                    <a:pt x="0" y="313133"/>
                  </a:lnTo>
                  <a:close/>
                </a:path>
              </a:pathLst>
            </a:custGeom>
            <a:blipFill>
              <a:blip r:embed="rId6">
                <a:alphaModFix amt="0"/>
              </a:blip>
              <a:stretch>
                <a:fillRect l="-116770" t="0" r="-116771" b="0"/>
              </a:stretch>
            </a:blipFill>
          </p:spPr>
        </p:sp>
        <p:sp>
          <p:nvSpPr>
            <p:cNvPr name="TextBox 11" id="11"/>
            <p:cNvSpPr txBox="true"/>
            <p:nvPr/>
          </p:nvSpPr>
          <p:spPr>
            <a:xfrm>
              <a:off x="0" y="-19050"/>
              <a:ext cx="240906" cy="332181"/>
            </a:xfrm>
            <a:prstGeom prst="rect">
              <a:avLst/>
            </a:prstGeom>
          </p:spPr>
          <p:txBody>
            <a:bodyPr anchor="ctr" rtlCol="false" tIns="0" lIns="0" bIns="0" rIns="0"/>
            <a:lstStyle/>
            <a:p>
              <a:pPr algn="ctr">
                <a:lnSpc>
                  <a:spcPts val="1679"/>
                </a:lnSpc>
              </a:pPr>
              <a:r>
                <a:rPr lang="en-US" sz="1399" b="true">
                  <a:solidFill>
                    <a:srgbClr val="000000"/>
                  </a:solidFill>
                  <a:latin typeface="Arimo Bold"/>
                  <a:ea typeface="Arimo Bold"/>
                  <a:cs typeface="Arimo Bold"/>
                  <a:sym typeface="Arimo Bold"/>
                </a:rPr>
                <a:t>1</a:t>
              </a:r>
            </a:p>
          </p:txBody>
        </p:sp>
      </p:grpSp>
      <p:sp>
        <p:nvSpPr>
          <p:cNvPr name="TextBox 12" id="12"/>
          <p:cNvSpPr txBox="true"/>
          <p:nvPr/>
        </p:nvSpPr>
        <p:spPr>
          <a:xfrm rot="0">
            <a:off x="4117029" y="2190598"/>
            <a:ext cx="2925661" cy="282778"/>
          </a:xfrm>
          <a:prstGeom prst="rect">
            <a:avLst/>
          </a:prstGeom>
        </p:spPr>
        <p:txBody>
          <a:bodyPr anchor="t" rtlCol="false" tIns="0" lIns="0" bIns="0" rIns="0">
            <a:spAutoFit/>
          </a:bodyPr>
          <a:lstStyle/>
          <a:p>
            <a:pPr algn="l">
              <a:lnSpc>
                <a:spcPts val="1814"/>
              </a:lnSpc>
            </a:pPr>
            <a:r>
              <a:rPr lang="en-US" sz="1399" b="true">
                <a:solidFill>
                  <a:srgbClr val="EBEDF0"/>
                </a:solidFill>
                <a:latin typeface="Arimo Bold"/>
                <a:ea typeface="Arimo Bold"/>
                <a:cs typeface="Arimo Bold"/>
                <a:sym typeface="Arimo Bold"/>
              </a:rPr>
              <a:t>Change Passwords Immediately</a:t>
            </a:r>
          </a:p>
        </p:txBody>
      </p:sp>
      <p:sp>
        <p:nvSpPr>
          <p:cNvPr name="TextBox 13" id="13"/>
          <p:cNvSpPr txBox="true"/>
          <p:nvPr/>
        </p:nvSpPr>
        <p:spPr>
          <a:xfrm rot="0">
            <a:off x="4117029" y="2562825"/>
            <a:ext cx="3059459" cy="739826"/>
          </a:xfrm>
          <a:prstGeom prst="rect">
            <a:avLst/>
          </a:prstGeom>
        </p:spPr>
        <p:txBody>
          <a:bodyPr anchor="t" rtlCol="false" tIns="0" lIns="0" bIns="0" rIns="0">
            <a:spAutoFit/>
          </a:bodyPr>
          <a:lstStyle/>
          <a:p>
            <a:pPr algn="l">
              <a:lnSpc>
                <a:spcPts val="1095"/>
              </a:lnSpc>
            </a:pPr>
            <a:r>
              <a:rPr lang="en-US" sz="1100">
                <a:solidFill>
                  <a:srgbClr val="EBEDF0"/>
                </a:solidFill>
                <a:latin typeface="Arimo"/>
                <a:ea typeface="Arimo"/>
                <a:cs typeface="Arimo"/>
                <a:sym typeface="Arimo"/>
              </a:rPr>
              <a:t>Change the passwords for any accounts that may have been compromised. Start with your email account, then banking and financial accounts, then any other services where you use the same credentials.</a:t>
            </a:r>
          </a:p>
        </p:txBody>
      </p:sp>
      <p:sp>
        <p:nvSpPr>
          <p:cNvPr name="Freeform 14" id="14" descr="preencoded.png"/>
          <p:cNvSpPr/>
          <p:nvPr/>
        </p:nvSpPr>
        <p:spPr>
          <a:xfrm flipH="false" flipV="false" rot="0">
            <a:off x="3947370" y="3552234"/>
            <a:ext cx="3398787" cy="1995935"/>
          </a:xfrm>
          <a:custGeom>
            <a:avLst/>
            <a:gdLst/>
            <a:ahLst/>
            <a:cxnLst/>
            <a:rect r="r" b="b" t="t" l="l"/>
            <a:pathLst>
              <a:path h="1995935" w="3398787">
                <a:moveTo>
                  <a:pt x="0" y="0"/>
                </a:moveTo>
                <a:lnTo>
                  <a:pt x="3398786" y="0"/>
                </a:lnTo>
                <a:lnTo>
                  <a:pt x="3398786" y="1995936"/>
                </a:lnTo>
                <a:lnTo>
                  <a:pt x="0" y="1995936"/>
                </a:lnTo>
                <a:lnTo>
                  <a:pt x="0" y="0"/>
                </a:lnTo>
                <a:close/>
              </a:path>
            </a:pathLst>
          </a:custGeom>
          <a:blipFill>
            <a:blip r:embed="rId7">
              <a:extLst>
                <a:ext uri="{96DAC541-7B7A-43D3-8B79-37D633B846F1}">
                  <asvg:svgBlip xmlns:asvg="http://schemas.microsoft.com/office/drawing/2016/SVG/main" r:embed="rId8"/>
                </a:ext>
              </a:extLst>
            </a:blip>
            <a:stretch>
              <a:fillRect l="0" t="-83" r="0" b="-83"/>
            </a:stretch>
          </a:blipFill>
        </p:spPr>
      </p:sp>
      <p:grpSp>
        <p:nvGrpSpPr>
          <p:cNvPr name="Group 15" id="15"/>
          <p:cNvGrpSpPr/>
          <p:nvPr/>
        </p:nvGrpSpPr>
        <p:grpSpPr>
          <a:xfrm rot="0">
            <a:off x="5556352" y="3660724"/>
            <a:ext cx="180680" cy="234848"/>
            <a:chOff x="0" y="0"/>
            <a:chExt cx="240906" cy="313131"/>
          </a:xfrm>
        </p:grpSpPr>
        <p:sp>
          <p:nvSpPr>
            <p:cNvPr name="Freeform 16" id="16"/>
            <p:cNvSpPr/>
            <p:nvPr/>
          </p:nvSpPr>
          <p:spPr>
            <a:xfrm flipH="false" flipV="false" rot="0">
              <a:off x="0" y="0"/>
              <a:ext cx="240904" cy="313133"/>
            </a:xfrm>
            <a:custGeom>
              <a:avLst/>
              <a:gdLst/>
              <a:ahLst/>
              <a:cxnLst/>
              <a:rect r="r" b="b" t="t" l="l"/>
              <a:pathLst>
                <a:path h="313133" w="240904">
                  <a:moveTo>
                    <a:pt x="0" y="0"/>
                  </a:moveTo>
                  <a:lnTo>
                    <a:pt x="240904" y="0"/>
                  </a:lnTo>
                  <a:lnTo>
                    <a:pt x="240904" y="313133"/>
                  </a:lnTo>
                  <a:lnTo>
                    <a:pt x="0" y="313133"/>
                  </a:lnTo>
                  <a:close/>
                </a:path>
              </a:pathLst>
            </a:custGeom>
            <a:blipFill>
              <a:blip r:embed="rId6">
                <a:alphaModFix amt="0"/>
              </a:blip>
              <a:stretch>
                <a:fillRect l="-116770" t="0" r="-116771" b="0"/>
              </a:stretch>
            </a:blipFill>
          </p:spPr>
        </p:sp>
        <p:sp>
          <p:nvSpPr>
            <p:cNvPr name="TextBox 17" id="17"/>
            <p:cNvSpPr txBox="true"/>
            <p:nvPr/>
          </p:nvSpPr>
          <p:spPr>
            <a:xfrm>
              <a:off x="0" y="-19050"/>
              <a:ext cx="240906" cy="332181"/>
            </a:xfrm>
            <a:prstGeom prst="rect">
              <a:avLst/>
            </a:prstGeom>
          </p:spPr>
          <p:txBody>
            <a:bodyPr anchor="ctr" rtlCol="false" tIns="0" lIns="0" bIns="0" rIns="0"/>
            <a:lstStyle/>
            <a:p>
              <a:pPr algn="ctr">
                <a:lnSpc>
                  <a:spcPts val="1679"/>
                </a:lnSpc>
              </a:pPr>
              <a:r>
                <a:rPr lang="en-US" sz="1399" b="true">
                  <a:solidFill>
                    <a:srgbClr val="000000"/>
                  </a:solidFill>
                  <a:latin typeface="Arimo Bold"/>
                  <a:ea typeface="Arimo Bold"/>
                  <a:cs typeface="Arimo Bold"/>
                  <a:sym typeface="Arimo Bold"/>
                </a:rPr>
                <a:t>2</a:t>
              </a:r>
            </a:p>
          </p:txBody>
        </p:sp>
      </p:grpSp>
      <p:sp>
        <p:nvSpPr>
          <p:cNvPr name="TextBox 18" id="18"/>
          <p:cNvSpPr txBox="true"/>
          <p:nvPr/>
        </p:nvSpPr>
        <p:spPr>
          <a:xfrm rot="0">
            <a:off x="4117029" y="4116591"/>
            <a:ext cx="1882826" cy="282778"/>
          </a:xfrm>
          <a:prstGeom prst="rect">
            <a:avLst/>
          </a:prstGeom>
        </p:spPr>
        <p:txBody>
          <a:bodyPr anchor="t" rtlCol="false" tIns="0" lIns="0" bIns="0" rIns="0">
            <a:spAutoFit/>
          </a:bodyPr>
          <a:lstStyle/>
          <a:p>
            <a:pPr algn="l">
              <a:lnSpc>
                <a:spcPts val="1814"/>
              </a:lnSpc>
            </a:pPr>
            <a:r>
              <a:rPr lang="en-US" sz="1399" b="true">
                <a:solidFill>
                  <a:srgbClr val="EBEDF0"/>
                </a:solidFill>
                <a:latin typeface="Arimo Bold"/>
                <a:ea typeface="Arimo Bold"/>
                <a:cs typeface="Arimo Bold"/>
                <a:sym typeface="Arimo Bold"/>
              </a:rPr>
              <a:t>Report the Incident</a:t>
            </a:r>
          </a:p>
        </p:txBody>
      </p:sp>
      <p:sp>
        <p:nvSpPr>
          <p:cNvPr name="TextBox 19" id="19"/>
          <p:cNvSpPr txBox="true"/>
          <p:nvPr/>
        </p:nvSpPr>
        <p:spPr>
          <a:xfrm rot="0">
            <a:off x="4117029" y="4488809"/>
            <a:ext cx="3059459" cy="889692"/>
          </a:xfrm>
          <a:prstGeom prst="rect">
            <a:avLst/>
          </a:prstGeom>
        </p:spPr>
        <p:txBody>
          <a:bodyPr anchor="t" rtlCol="false" tIns="0" lIns="0" bIns="0" rIns="0">
            <a:spAutoFit/>
          </a:bodyPr>
          <a:lstStyle/>
          <a:p>
            <a:pPr algn="l">
              <a:lnSpc>
                <a:spcPts val="1095"/>
              </a:lnSpc>
            </a:pPr>
            <a:r>
              <a:rPr lang="en-US" sz="1100">
                <a:solidFill>
                  <a:srgbClr val="EBEDF0"/>
                </a:solidFill>
                <a:latin typeface="Arimo"/>
                <a:ea typeface="Arimo"/>
                <a:cs typeface="Arimo"/>
                <a:sym typeface="Arimo"/>
              </a:rPr>
              <a:t>Report the phishing attempt to your organization's IT or security team right away. Also report it to the impersonated company and to relevant authorities such as the Anti-Phishing Working Group (APWG) or your national cybercrime reporting center.</a:t>
            </a:r>
          </a:p>
        </p:txBody>
      </p:sp>
      <p:sp>
        <p:nvSpPr>
          <p:cNvPr name="Freeform 20" id="20" descr="preencoded.png"/>
          <p:cNvSpPr/>
          <p:nvPr/>
        </p:nvSpPr>
        <p:spPr>
          <a:xfrm flipH="false" flipV="false" rot="0">
            <a:off x="3947370" y="5628084"/>
            <a:ext cx="3398787" cy="1846059"/>
          </a:xfrm>
          <a:custGeom>
            <a:avLst/>
            <a:gdLst/>
            <a:ahLst/>
            <a:cxnLst/>
            <a:rect r="r" b="b" t="t" l="l"/>
            <a:pathLst>
              <a:path h="1846059" w="3398787">
                <a:moveTo>
                  <a:pt x="0" y="0"/>
                </a:moveTo>
                <a:lnTo>
                  <a:pt x="3398786" y="0"/>
                </a:lnTo>
                <a:lnTo>
                  <a:pt x="3398786" y="1846060"/>
                </a:lnTo>
                <a:lnTo>
                  <a:pt x="0" y="1846060"/>
                </a:lnTo>
                <a:lnTo>
                  <a:pt x="0" y="0"/>
                </a:lnTo>
                <a:close/>
              </a:path>
            </a:pathLst>
          </a:custGeom>
          <a:blipFill>
            <a:blip r:embed="rId4">
              <a:extLst>
                <a:ext uri="{96DAC541-7B7A-43D3-8B79-37D633B846F1}">
                  <asvg:svgBlip xmlns:asvg="http://schemas.microsoft.com/office/drawing/2016/SVG/main" r:embed="rId5"/>
                </a:ext>
              </a:extLst>
            </a:blip>
            <a:stretch>
              <a:fillRect l="0" t="-282" r="0" b="-282"/>
            </a:stretch>
          </a:blipFill>
        </p:spPr>
      </p:sp>
      <p:grpSp>
        <p:nvGrpSpPr>
          <p:cNvPr name="Group 21" id="21"/>
          <p:cNvGrpSpPr/>
          <p:nvPr/>
        </p:nvGrpSpPr>
        <p:grpSpPr>
          <a:xfrm rot="0">
            <a:off x="5556352" y="5736584"/>
            <a:ext cx="180680" cy="234848"/>
            <a:chOff x="0" y="0"/>
            <a:chExt cx="240906" cy="313131"/>
          </a:xfrm>
        </p:grpSpPr>
        <p:sp>
          <p:nvSpPr>
            <p:cNvPr name="Freeform 22" id="22"/>
            <p:cNvSpPr/>
            <p:nvPr/>
          </p:nvSpPr>
          <p:spPr>
            <a:xfrm flipH="false" flipV="false" rot="0">
              <a:off x="0" y="0"/>
              <a:ext cx="240904" cy="313133"/>
            </a:xfrm>
            <a:custGeom>
              <a:avLst/>
              <a:gdLst/>
              <a:ahLst/>
              <a:cxnLst/>
              <a:rect r="r" b="b" t="t" l="l"/>
              <a:pathLst>
                <a:path h="313133" w="240904">
                  <a:moveTo>
                    <a:pt x="0" y="0"/>
                  </a:moveTo>
                  <a:lnTo>
                    <a:pt x="240904" y="0"/>
                  </a:lnTo>
                  <a:lnTo>
                    <a:pt x="240904" y="313133"/>
                  </a:lnTo>
                  <a:lnTo>
                    <a:pt x="0" y="313133"/>
                  </a:lnTo>
                  <a:close/>
                </a:path>
              </a:pathLst>
            </a:custGeom>
            <a:blipFill>
              <a:blip r:embed="rId6">
                <a:alphaModFix amt="0"/>
              </a:blip>
              <a:stretch>
                <a:fillRect l="-116770" t="0" r="-116771" b="0"/>
              </a:stretch>
            </a:blipFill>
          </p:spPr>
        </p:sp>
        <p:sp>
          <p:nvSpPr>
            <p:cNvPr name="TextBox 23" id="23"/>
            <p:cNvSpPr txBox="true"/>
            <p:nvPr/>
          </p:nvSpPr>
          <p:spPr>
            <a:xfrm>
              <a:off x="0" y="-19050"/>
              <a:ext cx="240906" cy="332181"/>
            </a:xfrm>
            <a:prstGeom prst="rect">
              <a:avLst/>
            </a:prstGeom>
          </p:spPr>
          <p:txBody>
            <a:bodyPr anchor="ctr" rtlCol="false" tIns="0" lIns="0" bIns="0" rIns="0"/>
            <a:lstStyle/>
            <a:p>
              <a:pPr algn="ctr">
                <a:lnSpc>
                  <a:spcPts val="1679"/>
                </a:lnSpc>
              </a:pPr>
              <a:r>
                <a:rPr lang="en-US" sz="1399" b="true">
                  <a:solidFill>
                    <a:srgbClr val="000000"/>
                  </a:solidFill>
                  <a:latin typeface="Arimo Bold"/>
                  <a:ea typeface="Arimo Bold"/>
                  <a:cs typeface="Arimo Bold"/>
                  <a:sym typeface="Arimo Bold"/>
                </a:rPr>
                <a:t>3</a:t>
              </a:r>
            </a:p>
          </p:txBody>
        </p:sp>
      </p:grpSp>
      <p:sp>
        <p:nvSpPr>
          <p:cNvPr name="TextBox 24" id="24"/>
          <p:cNvSpPr txBox="true"/>
          <p:nvPr/>
        </p:nvSpPr>
        <p:spPr>
          <a:xfrm rot="0">
            <a:off x="4117029" y="6192441"/>
            <a:ext cx="2285105" cy="282778"/>
          </a:xfrm>
          <a:prstGeom prst="rect">
            <a:avLst/>
          </a:prstGeom>
        </p:spPr>
        <p:txBody>
          <a:bodyPr anchor="t" rtlCol="false" tIns="0" lIns="0" bIns="0" rIns="0">
            <a:spAutoFit/>
          </a:bodyPr>
          <a:lstStyle/>
          <a:p>
            <a:pPr algn="l">
              <a:lnSpc>
                <a:spcPts val="1814"/>
              </a:lnSpc>
            </a:pPr>
            <a:r>
              <a:rPr lang="en-US" sz="1399" b="true">
                <a:solidFill>
                  <a:srgbClr val="EBEDF0"/>
                </a:solidFill>
                <a:latin typeface="Arimo Bold"/>
                <a:ea typeface="Arimo Bold"/>
                <a:cs typeface="Arimo Bold"/>
                <a:sym typeface="Arimo Bold"/>
              </a:rPr>
              <a:t>Scan Device for Malware</a:t>
            </a:r>
          </a:p>
        </p:txBody>
      </p:sp>
      <p:sp>
        <p:nvSpPr>
          <p:cNvPr name="TextBox 25" id="25"/>
          <p:cNvSpPr txBox="true"/>
          <p:nvPr/>
        </p:nvSpPr>
        <p:spPr>
          <a:xfrm rot="0">
            <a:off x="4117029" y="6564659"/>
            <a:ext cx="3059459" cy="739826"/>
          </a:xfrm>
          <a:prstGeom prst="rect">
            <a:avLst/>
          </a:prstGeom>
        </p:spPr>
        <p:txBody>
          <a:bodyPr anchor="t" rtlCol="false" tIns="0" lIns="0" bIns="0" rIns="0">
            <a:spAutoFit/>
          </a:bodyPr>
          <a:lstStyle/>
          <a:p>
            <a:pPr algn="l">
              <a:lnSpc>
                <a:spcPts val="1095"/>
              </a:lnSpc>
            </a:pPr>
            <a:r>
              <a:rPr lang="en-US" sz="1100">
                <a:solidFill>
                  <a:srgbClr val="EBEDF0"/>
                </a:solidFill>
                <a:latin typeface="Arimo"/>
                <a:ea typeface="Arimo"/>
                <a:cs typeface="Arimo"/>
                <a:sym typeface="Arimo"/>
              </a:rPr>
              <a:t>Run a full antivirus and anti-malware scan on your device immediately. If you clicked a link or opened an attachment, malicious software may have been installed without your knowledge.</a:t>
            </a:r>
          </a:p>
        </p:txBody>
      </p:sp>
      <p:sp>
        <p:nvSpPr>
          <p:cNvPr name="Freeform 26" id="26" descr="preencoded.png"/>
          <p:cNvSpPr/>
          <p:nvPr/>
        </p:nvSpPr>
        <p:spPr>
          <a:xfrm flipH="false" flipV="false" rot="0">
            <a:off x="3947370" y="7554068"/>
            <a:ext cx="3398787" cy="2145802"/>
          </a:xfrm>
          <a:custGeom>
            <a:avLst/>
            <a:gdLst/>
            <a:ahLst/>
            <a:cxnLst/>
            <a:rect r="r" b="b" t="t" l="l"/>
            <a:pathLst>
              <a:path h="2145802" w="3398787">
                <a:moveTo>
                  <a:pt x="0" y="0"/>
                </a:moveTo>
                <a:lnTo>
                  <a:pt x="3398786" y="0"/>
                </a:lnTo>
                <a:lnTo>
                  <a:pt x="3398786" y="2145801"/>
                </a:lnTo>
                <a:lnTo>
                  <a:pt x="0" y="2145801"/>
                </a:lnTo>
                <a:lnTo>
                  <a:pt x="0" y="0"/>
                </a:lnTo>
                <a:close/>
              </a:path>
            </a:pathLst>
          </a:custGeom>
          <a:blipFill>
            <a:blip r:embed="rId9">
              <a:extLst>
                <a:ext uri="{96DAC541-7B7A-43D3-8B79-37D633B846F1}">
                  <asvg:svgBlip xmlns:asvg="http://schemas.microsoft.com/office/drawing/2016/SVG/main" r:embed="rId10"/>
                </a:ext>
              </a:extLst>
            </a:blip>
            <a:stretch>
              <a:fillRect l="0" t="-135" r="0" b="-135"/>
            </a:stretch>
          </a:blipFill>
        </p:spPr>
      </p:sp>
      <p:grpSp>
        <p:nvGrpSpPr>
          <p:cNvPr name="Group 27" id="27"/>
          <p:cNvGrpSpPr/>
          <p:nvPr/>
        </p:nvGrpSpPr>
        <p:grpSpPr>
          <a:xfrm rot="0">
            <a:off x="5556352" y="7662567"/>
            <a:ext cx="180680" cy="234848"/>
            <a:chOff x="0" y="0"/>
            <a:chExt cx="240906" cy="313131"/>
          </a:xfrm>
        </p:grpSpPr>
        <p:sp>
          <p:nvSpPr>
            <p:cNvPr name="Freeform 28" id="28"/>
            <p:cNvSpPr/>
            <p:nvPr/>
          </p:nvSpPr>
          <p:spPr>
            <a:xfrm flipH="false" flipV="false" rot="0">
              <a:off x="0" y="0"/>
              <a:ext cx="240904" cy="313133"/>
            </a:xfrm>
            <a:custGeom>
              <a:avLst/>
              <a:gdLst/>
              <a:ahLst/>
              <a:cxnLst/>
              <a:rect r="r" b="b" t="t" l="l"/>
              <a:pathLst>
                <a:path h="313133" w="240904">
                  <a:moveTo>
                    <a:pt x="0" y="0"/>
                  </a:moveTo>
                  <a:lnTo>
                    <a:pt x="240904" y="0"/>
                  </a:lnTo>
                  <a:lnTo>
                    <a:pt x="240904" y="313133"/>
                  </a:lnTo>
                  <a:lnTo>
                    <a:pt x="0" y="313133"/>
                  </a:lnTo>
                  <a:close/>
                </a:path>
              </a:pathLst>
            </a:custGeom>
            <a:blipFill>
              <a:blip r:embed="rId6">
                <a:alphaModFix amt="0"/>
              </a:blip>
              <a:stretch>
                <a:fillRect l="-116770" t="0" r="-116771" b="0"/>
              </a:stretch>
            </a:blipFill>
          </p:spPr>
        </p:sp>
        <p:sp>
          <p:nvSpPr>
            <p:cNvPr name="TextBox 29" id="29"/>
            <p:cNvSpPr txBox="true"/>
            <p:nvPr/>
          </p:nvSpPr>
          <p:spPr>
            <a:xfrm>
              <a:off x="0" y="-19050"/>
              <a:ext cx="240906" cy="332181"/>
            </a:xfrm>
            <a:prstGeom prst="rect">
              <a:avLst/>
            </a:prstGeom>
          </p:spPr>
          <p:txBody>
            <a:bodyPr anchor="ctr" rtlCol="false" tIns="0" lIns="0" bIns="0" rIns="0"/>
            <a:lstStyle/>
            <a:p>
              <a:pPr algn="ctr">
                <a:lnSpc>
                  <a:spcPts val="1679"/>
                </a:lnSpc>
              </a:pPr>
              <a:r>
                <a:rPr lang="en-US" sz="1399" b="true">
                  <a:solidFill>
                    <a:srgbClr val="000000"/>
                  </a:solidFill>
                  <a:latin typeface="Arimo Bold"/>
                  <a:ea typeface="Arimo Bold"/>
                  <a:cs typeface="Arimo Bold"/>
                  <a:sym typeface="Arimo Bold"/>
                </a:rPr>
                <a:t>4</a:t>
              </a:r>
            </a:p>
          </p:txBody>
        </p:sp>
      </p:grpSp>
      <p:sp>
        <p:nvSpPr>
          <p:cNvPr name="TextBox 30" id="30"/>
          <p:cNvSpPr txBox="true"/>
          <p:nvPr/>
        </p:nvSpPr>
        <p:spPr>
          <a:xfrm rot="0">
            <a:off x="4117029" y="8118424"/>
            <a:ext cx="2251767" cy="282778"/>
          </a:xfrm>
          <a:prstGeom prst="rect">
            <a:avLst/>
          </a:prstGeom>
        </p:spPr>
        <p:txBody>
          <a:bodyPr anchor="t" rtlCol="false" tIns="0" lIns="0" bIns="0" rIns="0">
            <a:spAutoFit/>
          </a:bodyPr>
          <a:lstStyle/>
          <a:p>
            <a:pPr algn="l">
              <a:lnSpc>
                <a:spcPts val="1814"/>
              </a:lnSpc>
            </a:pPr>
            <a:r>
              <a:rPr lang="en-US" sz="1399" b="true">
                <a:solidFill>
                  <a:srgbClr val="EBEDF0"/>
                </a:solidFill>
                <a:latin typeface="Arimo Bold"/>
                <a:ea typeface="Arimo Bold"/>
                <a:cs typeface="Arimo Bold"/>
                <a:sym typeface="Arimo Bold"/>
              </a:rPr>
              <a:t>Notify Your Organization</a:t>
            </a:r>
          </a:p>
        </p:txBody>
      </p:sp>
      <p:sp>
        <p:nvSpPr>
          <p:cNvPr name="TextBox 31" id="31"/>
          <p:cNvSpPr txBox="true"/>
          <p:nvPr/>
        </p:nvSpPr>
        <p:spPr>
          <a:xfrm rot="0">
            <a:off x="4117029" y="8490642"/>
            <a:ext cx="3059459" cy="1039568"/>
          </a:xfrm>
          <a:prstGeom prst="rect">
            <a:avLst/>
          </a:prstGeom>
        </p:spPr>
        <p:txBody>
          <a:bodyPr anchor="t" rtlCol="false" tIns="0" lIns="0" bIns="0" rIns="0">
            <a:spAutoFit/>
          </a:bodyPr>
          <a:lstStyle/>
          <a:p>
            <a:pPr algn="l">
              <a:lnSpc>
                <a:spcPts val="1095"/>
              </a:lnSpc>
            </a:pPr>
            <a:r>
              <a:rPr lang="en-US" sz="1100">
                <a:solidFill>
                  <a:srgbClr val="EBEDF0"/>
                </a:solidFill>
                <a:latin typeface="Arimo"/>
                <a:ea typeface="Arimo"/>
                <a:cs typeface="Arimo"/>
                <a:sym typeface="Arimo"/>
              </a:rPr>
              <a:t>If the incident occurred on a work device or involved company accounts, notify your IT security team and management immediately. Early notification allows the organization to contain the breach and protect other employees from follow-on attacks.</a:t>
            </a:r>
          </a:p>
        </p:txBody>
      </p:sp>
      <p:grpSp>
        <p:nvGrpSpPr>
          <p:cNvPr name="Group 32" id="32"/>
          <p:cNvGrpSpPr/>
          <p:nvPr/>
        </p:nvGrpSpPr>
        <p:grpSpPr>
          <a:xfrm rot="0">
            <a:off x="7722994" y="3481092"/>
            <a:ext cx="6627019" cy="3755231"/>
            <a:chOff x="0" y="0"/>
            <a:chExt cx="8836025" cy="5006975"/>
          </a:xfrm>
        </p:grpSpPr>
        <p:sp>
          <p:nvSpPr>
            <p:cNvPr name="Freeform 33" id="33" descr="preencoded.png"/>
            <p:cNvSpPr/>
            <p:nvPr/>
          </p:nvSpPr>
          <p:spPr>
            <a:xfrm flipH="false" flipV="false" rot="0">
              <a:off x="0" y="0"/>
              <a:ext cx="8836025" cy="5006975"/>
            </a:xfrm>
            <a:custGeom>
              <a:avLst/>
              <a:gdLst/>
              <a:ahLst/>
              <a:cxnLst/>
              <a:rect r="r" b="b" t="t" l="l"/>
              <a:pathLst>
                <a:path h="5006975" w="8836025">
                  <a:moveTo>
                    <a:pt x="0" y="0"/>
                  </a:moveTo>
                  <a:lnTo>
                    <a:pt x="8836025" y="0"/>
                  </a:lnTo>
                  <a:lnTo>
                    <a:pt x="8836025" y="5006975"/>
                  </a:lnTo>
                  <a:lnTo>
                    <a:pt x="0" y="5006975"/>
                  </a:lnTo>
                  <a:lnTo>
                    <a:pt x="0" y="0"/>
                  </a:lnTo>
                  <a:close/>
                </a:path>
              </a:pathLst>
            </a:custGeom>
            <a:blipFill>
              <a:blip r:embed="rId11"/>
              <a:stretch>
                <a:fillRect l="-49" t="0" r="-49" b="0"/>
              </a:stretch>
            </a:blipFill>
          </p:spPr>
        </p:sp>
      </p:grpSp>
      <p:grpSp>
        <p:nvGrpSpPr>
          <p:cNvPr name="Group 34" id="34"/>
          <p:cNvGrpSpPr/>
          <p:nvPr/>
        </p:nvGrpSpPr>
        <p:grpSpPr>
          <a:xfrm rot="0">
            <a:off x="7722994" y="7326211"/>
            <a:ext cx="6627019" cy="518817"/>
            <a:chOff x="0" y="0"/>
            <a:chExt cx="8836025" cy="691756"/>
          </a:xfrm>
        </p:grpSpPr>
        <p:sp>
          <p:nvSpPr>
            <p:cNvPr name="Freeform 35" id="35"/>
            <p:cNvSpPr/>
            <p:nvPr/>
          </p:nvSpPr>
          <p:spPr>
            <a:xfrm flipH="false" flipV="false" rot="0">
              <a:off x="0" y="0"/>
              <a:ext cx="8836025" cy="691769"/>
            </a:xfrm>
            <a:custGeom>
              <a:avLst/>
              <a:gdLst/>
              <a:ahLst/>
              <a:cxnLst/>
              <a:rect r="r" b="b" t="t" l="l"/>
              <a:pathLst>
                <a:path h="691769" w="8836025">
                  <a:moveTo>
                    <a:pt x="0" y="84328"/>
                  </a:moveTo>
                  <a:cubicBezTo>
                    <a:pt x="0" y="37719"/>
                    <a:pt x="37719" y="0"/>
                    <a:pt x="84328" y="0"/>
                  </a:cubicBezTo>
                  <a:lnTo>
                    <a:pt x="8751697" y="0"/>
                  </a:lnTo>
                  <a:cubicBezTo>
                    <a:pt x="8798306" y="0"/>
                    <a:pt x="8836025" y="37719"/>
                    <a:pt x="8836025" y="84328"/>
                  </a:cubicBezTo>
                  <a:lnTo>
                    <a:pt x="8836025" y="607441"/>
                  </a:lnTo>
                  <a:cubicBezTo>
                    <a:pt x="8836025" y="654050"/>
                    <a:pt x="8798306" y="691769"/>
                    <a:pt x="8751697" y="691769"/>
                  </a:cubicBezTo>
                  <a:lnTo>
                    <a:pt x="84328" y="691769"/>
                  </a:lnTo>
                  <a:cubicBezTo>
                    <a:pt x="37719" y="691769"/>
                    <a:pt x="0" y="653923"/>
                    <a:pt x="0" y="607441"/>
                  </a:cubicBezTo>
                  <a:close/>
                </a:path>
              </a:pathLst>
            </a:custGeom>
            <a:solidFill>
              <a:srgbClr val="450707"/>
            </a:solidFill>
          </p:spPr>
        </p:sp>
      </p:grpSp>
      <p:grpSp>
        <p:nvGrpSpPr>
          <p:cNvPr name="Group 36" id="36"/>
          <p:cNvGrpSpPr/>
          <p:nvPr/>
        </p:nvGrpSpPr>
        <p:grpSpPr>
          <a:xfrm rot="0">
            <a:off x="7873603" y="7514482"/>
            <a:ext cx="188271" cy="150609"/>
            <a:chOff x="0" y="0"/>
            <a:chExt cx="251028" cy="200812"/>
          </a:xfrm>
        </p:grpSpPr>
        <p:sp>
          <p:nvSpPr>
            <p:cNvPr name="Freeform 37" id="37" descr="preencoded.png"/>
            <p:cNvSpPr/>
            <p:nvPr/>
          </p:nvSpPr>
          <p:spPr>
            <a:xfrm flipH="false" flipV="false" rot="0">
              <a:off x="0" y="0"/>
              <a:ext cx="251079" cy="200787"/>
            </a:xfrm>
            <a:custGeom>
              <a:avLst/>
              <a:gdLst/>
              <a:ahLst/>
              <a:cxnLst/>
              <a:rect r="r" b="b" t="t" l="l"/>
              <a:pathLst>
                <a:path h="200787" w="251079">
                  <a:moveTo>
                    <a:pt x="0" y="0"/>
                  </a:moveTo>
                  <a:lnTo>
                    <a:pt x="251079" y="0"/>
                  </a:lnTo>
                  <a:lnTo>
                    <a:pt x="251079" y="200787"/>
                  </a:lnTo>
                  <a:lnTo>
                    <a:pt x="0" y="200787"/>
                  </a:lnTo>
                  <a:lnTo>
                    <a:pt x="0" y="0"/>
                  </a:lnTo>
                  <a:close/>
                </a:path>
              </a:pathLst>
            </a:custGeom>
            <a:blipFill>
              <a:blip r:embed="rId12"/>
              <a:stretch>
                <a:fillRect l="0" t="0" r="20" b="-18"/>
              </a:stretch>
            </a:blipFill>
          </p:spPr>
        </p:sp>
      </p:grpSp>
      <p:sp>
        <p:nvSpPr>
          <p:cNvPr name="TextBox 38" id="38"/>
          <p:cNvSpPr txBox="true"/>
          <p:nvPr/>
        </p:nvSpPr>
        <p:spPr>
          <a:xfrm rot="0">
            <a:off x="8212484" y="7445273"/>
            <a:ext cx="5986910" cy="290217"/>
          </a:xfrm>
          <a:prstGeom prst="rect">
            <a:avLst/>
          </a:prstGeom>
        </p:spPr>
        <p:txBody>
          <a:bodyPr anchor="t" rtlCol="false" tIns="0" lIns="0" bIns="0" rIns="0">
            <a:spAutoFit/>
          </a:bodyPr>
          <a:lstStyle/>
          <a:p>
            <a:pPr algn="l">
              <a:lnSpc>
                <a:spcPts val="1095"/>
              </a:lnSpc>
            </a:pPr>
            <a:r>
              <a:rPr lang="en-US" sz="1100">
                <a:solidFill>
                  <a:srgbClr val="FFFFFF"/>
                </a:solidFill>
                <a:latin typeface="Arimo"/>
                <a:ea typeface="Arimo"/>
                <a:cs typeface="Arimo"/>
                <a:sym typeface="Arimo"/>
              </a:rPr>
              <a:t>Time is critical after a phishing incident. Every minute of delay increases the potential damage. Do not wait — act immediately and report without hesitation.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DAHL4faOYNY</dc:identifier>
  <dcterms:modified xsi:type="dcterms:W3CDTF">2011-08-01T06:04:30Z</dcterms:modified>
  <cp:revision>1</cp:revision>
  <dc:title>Phishing-Awareness-Training (1).pptx</dc:title>
</cp:coreProperties>
</file>